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60" r:id="rId5"/>
    <p:sldId id="261" r:id="rId6"/>
    <p:sldId id="262" r:id="rId7"/>
    <p:sldId id="264"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A6A"/>
    <a:srgbClr val="1287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3077" autoAdjust="0"/>
  </p:normalViewPr>
  <p:slideViewPr>
    <p:cSldViewPr snapToGrid="0">
      <p:cViewPr varScale="1">
        <p:scale>
          <a:sx n="63" d="100"/>
          <a:sy n="63" d="100"/>
        </p:scale>
        <p:origin x="642"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B2FA98-2A13-48A6-9287-3CCD2A21607D}" type="datetimeFigureOut">
              <a:rPr lang="en-US" smtClean="0"/>
              <a:t>8/1/2021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5E81C-1861-44E3-A439-C88A39588C0A}" type="slidenum">
              <a:rPr lang="en-US" smtClean="0"/>
              <a:t>‹#›</a:t>
            </a:fld>
            <a:endParaRPr lang="en-US"/>
          </a:p>
        </p:txBody>
      </p:sp>
    </p:spTree>
    <p:extLst>
      <p:ext uri="{BB962C8B-B14F-4D97-AF65-F5344CB8AC3E}">
        <p14:creationId xmlns:p14="http://schemas.microsoft.com/office/powerpoint/2010/main" val="2249369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recording transcript)</a:t>
            </a:r>
          </a:p>
          <a:p>
            <a:endParaRPr lang="en-US" dirty="0"/>
          </a:p>
          <a:p>
            <a:r>
              <a:rPr lang="en-US" dirty="0"/>
              <a:t>As we are getting closer to the end of the project, I felt it was important to go over what has been done so far on the Future Tech Network. Our team has worked well collaboratively and although there are still a few things needed to conclude the project, there is a great deal worth celebrating. In this meeting we will go over the details on what hardware and software will be used, what security measures are in place, and what testing has been completed. The system administrator and software engineer have worked together to get our devices up and running so they may be connected to the Future Tech Network. After a great deal of research, careful deliberation, and thorough negotiations the final software's have been decided and the contracts were on signed on weeks three and four of the project. </a:t>
            </a:r>
          </a:p>
          <a:p>
            <a:endParaRPr lang="en-US" dirty="0"/>
          </a:p>
          <a:p>
            <a:r>
              <a:rPr lang="en-US" dirty="0"/>
              <a:t>We will also go over what components have been purchased for the network structure specifically. Although there were some delays in the hardware deliveries due to the holiday season, as of week five the networking engineer has successfully installed and connected all networking hardware. The network equipment was specially arranged to minimize interference and increase broadcast. This was done by setting up access points throughout the facility, adjusting the network channel being used by the router, and dividing the network up into smaller virtual networks assigned to individual departments. </a:t>
            </a:r>
          </a:p>
          <a:p>
            <a:endParaRPr lang="en-US" dirty="0"/>
          </a:p>
          <a:p>
            <a:r>
              <a:rPr lang="en-US" dirty="0"/>
              <a:t>All team members have worked hard these past few weeks to ensure that the Future Tech Network remains safe from harm. This included developing and implementing security techniques in addition to systematically testing all of software and devices connected to the network. The testing engineer has worked closely with the systems administrator, software engineer, and network engineer to determine the best styles of assessments for ensuring both accessibility and security. The goal of this testing is to ensure that the company’s data remains protected from both internal and external attacks. We also want to be sure that the network is capable of handling the amount of user’s that may be on the network at any given time. This meant developing a detailed plan of action and ensuring the network has a dependable failover in place. </a:t>
            </a:r>
          </a:p>
          <a:p>
            <a:endParaRPr lang="en-US" dirty="0"/>
          </a:p>
          <a:p>
            <a:r>
              <a:rPr lang="en-US" dirty="0"/>
              <a:t>In addition to discussing the tasks that have been completed, I will be discussing what steps the team will be taking in the next two weeks to finish up the project. These tasks include the various testing types that we have determined to be necessary to ensure Future Tech’s goals are achieved. While a briefing of each testing type will be given today, I would like to encourage you to do your own research on the topics and feel free to bring it to our attention if you discover any additional steps we should be taking. </a:t>
            </a:r>
          </a:p>
          <a:p>
            <a:endParaRPr lang="en-US" dirty="0"/>
          </a:p>
          <a:p>
            <a:r>
              <a:rPr lang="en-US" dirty="0"/>
              <a:t>The final week of the project we will be having our users log onto their computers and become familiar with them. We hope to have time to provide training where necessary, although this may need to occur after the project’s completion. We are still looking into a formal training conference that will be directed at specific departments, and we will provide ample notice when the final decisions are made regarding this. </a:t>
            </a:r>
          </a:p>
          <a:p>
            <a:endParaRPr lang="en-US" dirty="0"/>
          </a:p>
          <a:p>
            <a:r>
              <a:rPr lang="en-US" dirty="0"/>
              <a:t>I have placed several documents in front of each of you to reference throughout the presentation. These documents include more details about the project’s final budget, tasks completed or in progress, the schedule, and the scope. Also included is a copy of this presentation with the notes included on the back. Throughout this presentation I will provide time for any questions or concerns after each slide and again at the conclusion to ensure all are addressed. Are there any questions before we begin? Alright, let’s begin. </a:t>
            </a:r>
          </a:p>
        </p:txBody>
      </p:sp>
      <p:sp>
        <p:nvSpPr>
          <p:cNvPr id="4" name="Slide Number Placeholder 3"/>
          <p:cNvSpPr>
            <a:spLocks noGrp="1"/>
          </p:cNvSpPr>
          <p:nvPr>
            <p:ph type="sldNum" sz="quarter" idx="5"/>
          </p:nvPr>
        </p:nvSpPr>
        <p:spPr/>
        <p:txBody>
          <a:bodyPr/>
          <a:lstStyle/>
          <a:p>
            <a:fld id="{FC65E81C-1861-44E3-A439-C88A39588C0A}" type="slidenum">
              <a:rPr lang="en-US" smtClean="0"/>
              <a:t>1</a:t>
            </a:fld>
            <a:endParaRPr lang="en-US"/>
          </a:p>
        </p:txBody>
      </p:sp>
    </p:spTree>
    <p:extLst>
      <p:ext uri="{BB962C8B-B14F-4D97-AF65-F5344CB8AC3E}">
        <p14:creationId xmlns:p14="http://schemas.microsoft.com/office/powerpoint/2010/main" val="2927225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Dell Inspiron 22 3000 was the decided desktop of choice due to its price and specs. This device came with 1 TB of hard drive, a 7</a:t>
            </a:r>
            <a:r>
              <a:rPr lang="en-US" baseline="30000" dirty="0"/>
              <a:t>th</a:t>
            </a:r>
            <a:r>
              <a:rPr lang="en-US" dirty="0"/>
              <a:t> generation AMD processor, and a 21.5 inch touch display. The laptops installed were Dell Inspiron 15 3000 with 7</a:t>
            </a:r>
            <a:r>
              <a:rPr lang="en-US" baseline="30000" dirty="0"/>
              <a:t>th</a:t>
            </a:r>
            <a:r>
              <a:rPr lang="en-US" dirty="0"/>
              <a:t> generation Intel i3 processors, 1 TB hard drive, and 15.6 inch displays. All computers came equipped with Windows 10 operation systems and one year warranties. These devices have been tested to ensure they connected appropriately and power on correctly. </a:t>
            </a:r>
          </a:p>
        </p:txBody>
      </p:sp>
      <p:sp>
        <p:nvSpPr>
          <p:cNvPr id="4" name="Slide Number Placeholder 3"/>
          <p:cNvSpPr>
            <a:spLocks noGrp="1"/>
          </p:cNvSpPr>
          <p:nvPr>
            <p:ph type="sldNum" sz="quarter" idx="5"/>
          </p:nvPr>
        </p:nvSpPr>
        <p:spPr/>
        <p:txBody>
          <a:bodyPr/>
          <a:lstStyle/>
          <a:p>
            <a:fld id="{FC65E81C-1861-44E3-A439-C88A39588C0A}" type="slidenum">
              <a:rPr lang="en-US" smtClean="0"/>
              <a:t>2</a:t>
            </a:fld>
            <a:endParaRPr lang="en-US"/>
          </a:p>
        </p:txBody>
      </p:sp>
    </p:spTree>
    <p:extLst>
      <p:ext uri="{BB962C8B-B14F-4D97-AF65-F5344CB8AC3E}">
        <p14:creationId xmlns:p14="http://schemas.microsoft.com/office/powerpoint/2010/main" val="2127708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relational management system Future Tech will begin to use is by Salesforce, logins for all users have been created.  Additionally, Microsoft Office 365 was installed on all devices to be used for all documentations, excel spreadsheets, and presentations. For all forthcoming Future Tech Projects the project management system Basecamp will be used. Groups have already been created in the Basecamp system for future use. Regarding the time, document, benefits, and employee tracking the system being used going forward will be through Paycom. All employees should have already received emails with their login credentials to begin use and can access the system by visiting paycom.com. The remote access software by TeamViewer was installed on all technical support agent devices to allow them to easily assist customers should the need arise. Pidgin was another tool installed on all devices and groups have been created to allow departments or individuals to quickly communicate with one another in real time. Finally, Avast was the chosen antivirus software and has been installed and thoroughly tested on all devices. </a:t>
            </a:r>
          </a:p>
        </p:txBody>
      </p:sp>
      <p:sp>
        <p:nvSpPr>
          <p:cNvPr id="4" name="Slide Number Placeholder 3"/>
          <p:cNvSpPr>
            <a:spLocks noGrp="1"/>
          </p:cNvSpPr>
          <p:nvPr>
            <p:ph type="sldNum" sz="quarter" idx="5"/>
          </p:nvPr>
        </p:nvSpPr>
        <p:spPr/>
        <p:txBody>
          <a:bodyPr/>
          <a:lstStyle/>
          <a:p>
            <a:fld id="{FC65E81C-1861-44E3-A439-C88A39588C0A}" type="slidenum">
              <a:rPr lang="en-US" smtClean="0"/>
              <a:t>3</a:t>
            </a:fld>
            <a:endParaRPr lang="en-US"/>
          </a:p>
        </p:txBody>
      </p:sp>
    </p:spTree>
    <p:extLst>
      <p:ext uri="{BB962C8B-B14F-4D97-AF65-F5344CB8AC3E}">
        <p14:creationId xmlns:p14="http://schemas.microsoft.com/office/powerpoint/2010/main" val="3145770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Future Tech Network there were roughly 16,000 square feet of Cat7 cabling installed throughout the three floors to allow connectivity to the network. This involved installing 14 RJ45 jacks throughout the facility to assist with connecting to the internet. Three PowerEdge Servers were added into a dedicated server room on the third floor for data storage and failover. These were then connected to switches leading off onto other devices. To achieve full connection, there were a total of 16 switches installed throughout the facility. The switches were configured to create virtual local area networks for each department to limit traffic and increase broadcast. A total of two NETGEAR routers were then installed: one on each the second and third floors. These routers were connected to switches and configured with new authentication credentials to ensure all network access is restricted to ensure security. The routers were then connected to ARRIS standalone modems to ensure there is limited network down time. Linksys wireless access points were also installed throughout the facility to provide network access for wireless devices throughout the facility. </a:t>
            </a:r>
          </a:p>
        </p:txBody>
      </p:sp>
      <p:sp>
        <p:nvSpPr>
          <p:cNvPr id="4" name="Slide Number Placeholder 3"/>
          <p:cNvSpPr>
            <a:spLocks noGrp="1"/>
          </p:cNvSpPr>
          <p:nvPr>
            <p:ph type="sldNum" sz="quarter" idx="5"/>
          </p:nvPr>
        </p:nvSpPr>
        <p:spPr/>
        <p:txBody>
          <a:bodyPr/>
          <a:lstStyle/>
          <a:p>
            <a:fld id="{FC65E81C-1861-44E3-A439-C88A39588C0A}" type="slidenum">
              <a:rPr lang="en-US" smtClean="0"/>
              <a:t>4</a:t>
            </a:fld>
            <a:endParaRPr lang="en-US"/>
          </a:p>
        </p:txBody>
      </p:sp>
    </p:spTree>
    <p:extLst>
      <p:ext uri="{BB962C8B-B14F-4D97-AF65-F5344CB8AC3E}">
        <p14:creationId xmlns:p14="http://schemas.microsoft.com/office/powerpoint/2010/main" val="2784220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Upon powering on any Future Tech device users will be required to accept a warning message as a reminder to only use company property for company related tasks. This will be followed with a personal username and password to gain access to the device. All software programs installed onto devices will also require their own authentication credentials and access restrictions have been set to limit what users can do. Users will also be required to sign device use contracts that further explain how company property and data can and cannot be used. Users who have not signed said contract will not be allowed to use their device until it is signed. All servers and desktops will be equipped with physical locks and access to certain areas will require a special key card given only after device use contract is signed. Additional virtual locks will be added to both the routers and servers on site. In addition to the authentication details the router will have WPA2 security measures that aide in encrypting the company’s data to prevent misuse or destruction. Finally, all devices on site will be configured to have an assigned port to ensure security and all unused ports will be blocked to prevent intrusion. </a:t>
            </a:r>
          </a:p>
        </p:txBody>
      </p:sp>
      <p:sp>
        <p:nvSpPr>
          <p:cNvPr id="4" name="Slide Number Placeholder 3"/>
          <p:cNvSpPr>
            <a:spLocks noGrp="1"/>
          </p:cNvSpPr>
          <p:nvPr>
            <p:ph type="sldNum" sz="quarter" idx="5"/>
          </p:nvPr>
        </p:nvSpPr>
        <p:spPr/>
        <p:txBody>
          <a:bodyPr/>
          <a:lstStyle/>
          <a:p>
            <a:fld id="{FC65E81C-1861-44E3-A439-C88A39588C0A}" type="slidenum">
              <a:rPr lang="en-US" smtClean="0"/>
              <a:t>5</a:t>
            </a:fld>
            <a:endParaRPr lang="en-US"/>
          </a:p>
        </p:txBody>
      </p:sp>
    </p:spTree>
    <p:extLst>
      <p:ext uri="{BB962C8B-B14F-4D97-AF65-F5344CB8AC3E}">
        <p14:creationId xmlns:p14="http://schemas.microsoft.com/office/powerpoint/2010/main" val="3121227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you can see how the desktop of all computers will look in addition to a couple of the security prompts users may see. The first tests completed were just to ensure that the computers were properly connected and powered on correctly. All user logins were tested to ensure that the proper prompts would display if the input was bad. These were also tested to ensure that users could only fail logging in three times before a notification would be sent to the technical department. The computers were also checked to ensure all installed software credentials worked appropriately and prompts were displayed to those who were not granted access. While users will have logins for all applications their access is limited to only what they require for their department. The most recent tests completed consisted of checking the ports for ease of access. During this testing the ports were tested to ensure that only the devices assigned to them could use them. The unused ports were also methodically tested to ensure that they would block intruders. </a:t>
            </a:r>
          </a:p>
        </p:txBody>
      </p:sp>
      <p:sp>
        <p:nvSpPr>
          <p:cNvPr id="4" name="Slide Number Placeholder 3"/>
          <p:cNvSpPr>
            <a:spLocks noGrp="1"/>
          </p:cNvSpPr>
          <p:nvPr>
            <p:ph type="sldNum" sz="quarter" idx="5"/>
          </p:nvPr>
        </p:nvSpPr>
        <p:spPr/>
        <p:txBody>
          <a:bodyPr/>
          <a:lstStyle/>
          <a:p>
            <a:fld id="{FC65E81C-1861-44E3-A439-C88A39588C0A}" type="slidenum">
              <a:rPr lang="en-US" smtClean="0"/>
              <a:t>6</a:t>
            </a:fld>
            <a:endParaRPr lang="en-US"/>
          </a:p>
        </p:txBody>
      </p:sp>
    </p:spTree>
    <p:extLst>
      <p:ext uri="{BB962C8B-B14F-4D97-AF65-F5344CB8AC3E}">
        <p14:creationId xmlns:p14="http://schemas.microsoft.com/office/powerpoint/2010/main" val="2650211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network hardware has been installed, connected, and configured there are still many tests to be done. For these tests the network engineer will work closely with the testing engineer to ensure the hardware functions correctly. Many other tests will be done to ensure that each device is getting the proper network speeds and that coverage is appropriate for each floor. Pen testing will also be done to simulate cyber attacks on the network and individual devices. Scanning tools will be used during this test phase to discover holes in the network and see how the systems respond to intrusions. Finally, stress tests will be done on the network to see how much it can handle before it essentially breaks: During this the time to recover will also be monitored and documented. The goal of these tests are to ensure that the network correctly responds and help avoid downtime in the future.  </a:t>
            </a:r>
          </a:p>
        </p:txBody>
      </p:sp>
      <p:sp>
        <p:nvSpPr>
          <p:cNvPr id="4" name="Slide Number Placeholder 3"/>
          <p:cNvSpPr>
            <a:spLocks noGrp="1"/>
          </p:cNvSpPr>
          <p:nvPr>
            <p:ph type="sldNum" sz="quarter" idx="5"/>
          </p:nvPr>
        </p:nvSpPr>
        <p:spPr/>
        <p:txBody>
          <a:bodyPr/>
          <a:lstStyle/>
          <a:p>
            <a:fld id="{FC65E81C-1861-44E3-A439-C88A39588C0A}" type="slidenum">
              <a:rPr lang="en-US" smtClean="0"/>
              <a:t>7</a:t>
            </a:fld>
            <a:endParaRPr lang="en-US"/>
          </a:p>
        </p:txBody>
      </p:sp>
    </p:spTree>
    <p:extLst>
      <p:ext uri="{BB962C8B-B14F-4D97-AF65-F5344CB8AC3E}">
        <p14:creationId xmlns:p14="http://schemas.microsoft.com/office/powerpoint/2010/main" val="3718411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2E85EC-BCFB-404A-B7D0-0E5D28E04DFC}" type="datetimeFigureOut">
              <a:rPr lang="en-US" smtClean="0"/>
              <a:t>8/1/2021</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2410152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2E85EC-BCFB-404A-B7D0-0E5D28E04DFC}" type="datetimeFigureOut">
              <a:rPr lang="en-US" smtClean="0"/>
              <a:t>8/1/2021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4288001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2E85EC-BCFB-404A-B7D0-0E5D28E04DFC}" type="datetimeFigureOut">
              <a:rPr lang="en-US" smtClean="0"/>
              <a:t>8/1/2021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1799427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2E85EC-BCFB-404A-B7D0-0E5D28E04DFC}" type="datetimeFigureOut">
              <a:rPr lang="en-US" smtClean="0"/>
              <a:t>8/1/2021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2193279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2E85EC-BCFB-404A-B7D0-0E5D28E04DFC}" type="datetimeFigureOut">
              <a:rPr lang="en-US" smtClean="0"/>
              <a:t>8/1/2021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265320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2E85EC-BCFB-404A-B7D0-0E5D28E04DFC}" type="datetimeFigureOut">
              <a:rPr lang="en-US" smtClean="0"/>
              <a:t>8/1/2021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506990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2E85EC-BCFB-404A-B7D0-0E5D28E04DFC}" type="datetimeFigureOut">
              <a:rPr lang="en-US" smtClean="0"/>
              <a:t>8/1/2021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1826231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D2E85EC-BCFB-404A-B7D0-0E5D28E04DFC}" type="datetimeFigureOut">
              <a:rPr lang="en-US" smtClean="0"/>
              <a:t>8/1/2021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1619558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D2E85EC-BCFB-404A-B7D0-0E5D28E04DFC}" type="datetimeFigureOut">
              <a:rPr lang="en-US" smtClean="0"/>
              <a:t>8/1/2021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621317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D2E85EC-BCFB-404A-B7D0-0E5D28E04DFC}" type="datetimeFigureOut">
              <a:rPr lang="en-US" smtClean="0"/>
              <a:t>8/1/2021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2920833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2E85EC-BCFB-404A-B7D0-0E5D28E04DFC}" type="datetimeFigureOut">
              <a:rPr lang="en-US" smtClean="0"/>
              <a:t>8/1/2021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3310723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2E85EC-BCFB-404A-B7D0-0E5D28E04DFC}" type="datetimeFigureOut">
              <a:rPr lang="en-US" smtClean="0"/>
              <a:t>8/1/2021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1493491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2E85EC-BCFB-404A-B7D0-0E5D28E04DFC}" type="datetimeFigureOut">
              <a:rPr lang="en-US" smtClean="0"/>
              <a:t>8/1/2021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27230689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2E85EC-BCFB-404A-B7D0-0E5D28E04DFC}" type="datetimeFigureOut">
              <a:rPr lang="en-US" smtClean="0"/>
              <a:t>8/1/2021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9148821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2E85EC-BCFB-404A-B7D0-0E5D28E04DFC}" type="datetimeFigureOut">
              <a:rPr lang="en-US" smtClean="0"/>
              <a:t>8/1/2021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1973528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2E85EC-BCFB-404A-B7D0-0E5D28E04DFC}" type="datetimeFigureOut">
              <a:rPr lang="en-US" smtClean="0"/>
              <a:t>8/1/2021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41691995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2E85EC-BCFB-404A-B7D0-0E5D28E04DFC}" type="datetimeFigureOut">
              <a:rPr lang="en-US" smtClean="0"/>
              <a:t>8/1/2021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53D121-0ED4-438A-A5B4-0B122A9D37A7}" type="slidenum">
              <a:rPr lang="en-US" smtClean="0"/>
              <a:t>‹#›</a:t>
            </a:fld>
            <a:endParaRPr lang="en-US"/>
          </a:p>
        </p:txBody>
      </p:sp>
    </p:spTree>
    <p:extLst>
      <p:ext uri="{BB962C8B-B14F-4D97-AF65-F5344CB8AC3E}">
        <p14:creationId xmlns:p14="http://schemas.microsoft.com/office/powerpoint/2010/main" val="3778608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D2E85EC-BCFB-404A-B7D0-0E5D28E04DFC}" type="datetimeFigureOut">
              <a:rPr lang="en-US" smtClean="0"/>
              <a:t>8/1/2021</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A53D121-0ED4-438A-A5B4-0B122A9D37A7}" type="slidenum">
              <a:rPr lang="en-US" smtClean="0"/>
              <a:t>‹#›</a:t>
            </a:fld>
            <a:endParaRPr lang="en-US"/>
          </a:p>
        </p:txBody>
      </p:sp>
    </p:spTree>
    <p:extLst>
      <p:ext uri="{BB962C8B-B14F-4D97-AF65-F5344CB8AC3E}">
        <p14:creationId xmlns:p14="http://schemas.microsoft.com/office/powerpoint/2010/main" val="34860166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hyperlink" Target="http://www.pngall.com/globe-png" TargetMode="External"/><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putoinformatico.blogspot.com/2015/04/ultraportatil-14-dell-inspiron-14-de.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hyperlink" Target="http://www.thaigoodview.com/node/161436" TargetMode="Externa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8" Type="http://schemas.openxmlformats.org/officeDocument/2006/relationships/hyperlink" Target="https://www.hrbartender.com/2016/hr-law-legislation/new-flsa-overtime-changes-align-policies/" TargetMode="External"/><Relationship Id="rId13"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8.png"/><Relationship Id="rId12" Type="http://schemas.openxmlformats.org/officeDocument/2006/relationships/hyperlink" Target="https://doc.ubuntu-fr.org/teamviewer" TargetMode="External"/><Relationship Id="rId2" Type="http://schemas.openxmlformats.org/officeDocument/2006/relationships/notesSlide" Target="../notesSlides/notesSlide3.xml"/><Relationship Id="rId16" Type="http://schemas.openxmlformats.org/officeDocument/2006/relationships/hyperlink" Target="http://andrearizzo.com/avira-avast-avg.htm" TargetMode="External"/><Relationship Id="rId1" Type="http://schemas.openxmlformats.org/officeDocument/2006/relationships/slideLayout" Target="../slideLayouts/slideLayout2.xml"/><Relationship Id="rId6" Type="http://schemas.openxmlformats.org/officeDocument/2006/relationships/hyperlink" Target="https://it.wikipedia.org/wiki/file:logo_office_2003.png" TargetMode="External"/><Relationship Id="rId11" Type="http://schemas.openxmlformats.org/officeDocument/2006/relationships/image" Target="../media/image10.png"/><Relationship Id="rId5" Type="http://schemas.openxmlformats.org/officeDocument/2006/relationships/image" Target="../media/image7.png"/><Relationship Id="rId15" Type="http://schemas.openxmlformats.org/officeDocument/2006/relationships/image" Target="../media/image12.png"/><Relationship Id="rId10" Type="http://schemas.openxmlformats.org/officeDocument/2006/relationships/hyperlink" Target="https://fr.wikipedia.org/wiki/Pidgin_(logiciel)" TargetMode="External"/><Relationship Id="rId4" Type="http://schemas.openxmlformats.org/officeDocument/2006/relationships/hyperlink" Target="https://de.wikipedia.org/wiki/Salesforce.com" TargetMode="External"/><Relationship Id="rId9" Type="http://schemas.openxmlformats.org/officeDocument/2006/relationships/image" Target="../media/image9.png"/><Relationship Id="rId14" Type="http://schemas.openxmlformats.org/officeDocument/2006/relationships/hyperlink" Target="http://www.flickr.com/photos/indiekid/2555127978/"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e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boingboing.net/2014/05/27/netgear-nighthawk-r7000-high.html" TargetMode="External"/><Relationship Id="rId5" Type="http://schemas.openxmlformats.org/officeDocument/2006/relationships/image" Target="../media/image14.jpg"/><Relationship Id="rId4" Type="http://schemas.openxmlformats.org/officeDocument/2006/relationships/image" Target="../media/image13.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hyperlink" Target="https://en.wikipedia.org/wiki/Keycard_lock"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0.jpg"/><Relationship Id="rId5" Type="http://schemas.openxmlformats.org/officeDocument/2006/relationships/hyperlink" Target="https://commons.wikimedia.org/wiki/File:Warning_icon.svg" TargetMode="Externa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jpeg"/><Relationship Id="rId7" Type="http://schemas.openxmlformats.org/officeDocument/2006/relationships/hyperlink" Target="https://superuser.com/questions/1184157/windows-this-operation-has-been-cancelled-due-to-restrictions-in-effect-on-thi"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hyperlink" Target="http://superuser.com/questions/498247/the-username-or-password-is-incorrect-without-entering-login-details" TargetMode="External"/><Relationship Id="rId10" Type="http://schemas.openxmlformats.org/officeDocument/2006/relationships/hyperlink" Target="https://de.wikipedia.org/wiki/Salesforce.com" TargetMode="External"/><Relationship Id="rId4" Type="http://schemas.openxmlformats.org/officeDocument/2006/relationships/image" Target="../media/image21.pn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www.leniel.net/2011/05/access-aspnet-app-from-win-7-vm-mac-os.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hyperlink" Target="http://www.navigaweb.net/2013/07/test-di-velocita-internet-per-windows-8.html" TargetMode="External"/><Relationship Id="rId4" Type="http://schemas.openxmlformats.org/officeDocument/2006/relationships/image" Target="../media/image2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2" name="Group 44">
            <a:extLst>
              <a:ext uri="{FF2B5EF4-FFF2-40B4-BE49-F238E27FC236}">
                <a16:creationId xmlns:a16="http://schemas.microsoft.com/office/drawing/2014/main" id="{3F1527C3-06F4-4F4D-B364-8E97266450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46" name="Freeform 6">
              <a:extLst>
                <a:ext uri="{FF2B5EF4-FFF2-40B4-BE49-F238E27FC236}">
                  <a16:creationId xmlns:a16="http://schemas.microsoft.com/office/drawing/2014/main" id="{BF1C23D2-D74F-4456-AD7B-904A6E28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43" name="Freeform 7">
              <a:extLst>
                <a:ext uri="{FF2B5EF4-FFF2-40B4-BE49-F238E27FC236}">
                  <a16:creationId xmlns:a16="http://schemas.microsoft.com/office/drawing/2014/main" id="{578577AD-563A-4936-9ACB-FDCF298412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48" name="Freeform 8">
              <a:extLst>
                <a:ext uri="{FF2B5EF4-FFF2-40B4-BE49-F238E27FC236}">
                  <a16:creationId xmlns:a16="http://schemas.microsoft.com/office/drawing/2014/main" id="{1C9F3743-BFAB-4636-81C7-ACD99C694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49" name="Freeform 9">
              <a:extLst>
                <a:ext uri="{FF2B5EF4-FFF2-40B4-BE49-F238E27FC236}">
                  <a16:creationId xmlns:a16="http://schemas.microsoft.com/office/drawing/2014/main" id="{FC58029E-BC15-45E4-AA28-CC80C96A3F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0" name="Freeform 10">
              <a:extLst>
                <a:ext uri="{FF2B5EF4-FFF2-40B4-BE49-F238E27FC236}">
                  <a16:creationId xmlns:a16="http://schemas.microsoft.com/office/drawing/2014/main" id="{41CBB721-7EDD-4FEA-9D6B-A3656D9F45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1" name="Freeform 11">
              <a:extLst>
                <a:ext uri="{FF2B5EF4-FFF2-40B4-BE49-F238E27FC236}">
                  <a16:creationId xmlns:a16="http://schemas.microsoft.com/office/drawing/2014/main" id="{4C945CDA-4F14-4FA0-B272-B1E25B4FA1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useBgFill="1">
        <p:nvSpPr>
          <p:cNvPr id="53" name="Rectangle 52">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0298E-E652-4E61-B0A4-2BFEC0B93D40}"/>
              </a:ext>
            </a:extLst>
          </p:cNvPr>
          <p:cNvSpPr>
            <a:spLocks noGrp="1"/>
          </p:cNvSpPr>
          <p:nvPr>
            <p:ph type="ctrTitle"/>
          </p:nvPr>
        </p:nvSpPr>
        <p:spPr>
          <a:xfrm>
            <a:off x="1018191" y="685800"/>
            <a:ext cx="9016395" cy="3727174"/>
          </a:xfrm>
        </p:spPr>
        <p:txBody>
          <a:bodyPr vert="horz" lIns="91440" tIns="45720" rIns="91440" bIns="45720" rtlCol="0" anchor="ctr">
            <a:noAutofit/>
          </a:bodyPr>
          <a:lstStyle/>
          <a:p>
            <a:pPr algn="ctr"/>
            <a:r>
              <a:rPr lang="en-US" sz="9600" dirty="0">
                <a:latin typeface="MingLiU-ExtB" panose="02020500000000000000" pitchFamily="18" charset="-120"/>
                <a:ea typeface="MingLiU-ExtB" panose="02020500000000000000" pitchFamily="18" charset="-120"/>
                <a:cs typeface="Arabic Typesetting" panose="020B0604020202020204" pitchFamily="66" charset="-78"/>
              </a:rPr>
              <a:t>Future Tech Network</a:t>
            </a:r>
          </a:p>
        </p:txBody>
      </p:sp>
      <p:sp>
        <p:nvSpPr>
          <p:cNvPr id="3" name="Subtitle 2">
            <a:extLst>
              <a:ext uri="{FF2B5EF4-FFF2-40B4-BE49-F238E27FC236}">
                <a16:creationId xmlns:a16="http://schemas.microsoft.com/office/drawing/2014/main" id="{10B24ECC-4370-4010-B22B-9D8E88BDCB38}"/>
              </a:ext>
            </a:extLst>
          </p:cNvPr>
          <p:cNvSpPr>
            <a:spLocks noGrp="1"/>
          </p:cNvSpPr>
          <p:nvPr>
            <p:ph type="subTitle" idx="1"/>
          </p:nvPr>
        </p:nvSpPr>
        <p:spPr>
          <a:xfrm>
            <a:off x="493245" y="5334001"/>
            <a:ext cx="2943670" cy="1304522"/>
          </a:xfrm>
        </p:spPr>
        <p:txBody>
          <a:bodyPr vert="horz" lIns="91440" tIns="45720" rIns="91440" bIns="45720" rtlCol="0" anchor="t">
            <a:normAutofit/>
          </a:bodyPr>
          <a:lstStyle/>
          <a:p>
            <a:pPr algn="l"/>
            <a:r>
              <a:rPr lang="en-US" sz="1800" dirty="0"/>
              <a:t>Felicia Ainslie</a:t>
            </a:r>
          </a:p>
          <a:p>
            <a:pPr algn="l"/>
            <a:r>
              <a:rPr lang="en-US" sz="1800" dirty="0"/>
              <a:t>Purdue University Global</a:t>
            </a:r>
          </a:p>
          <a:p>
            <a:pPr algn="l"/>
            <a:r>
              <a:rPr lang="en-US" sz="1800" dirty="0"/>
              <a:t>IT499</a:t>
            </a:r>
          </a:p>
          <a:p>
            <a:pPr algn="l"/>
            <a:endParaRPr lang="en-US" sz="1800" dirty="0"/>
          </a:p>
        </p:txBody>
      </p:sp>
      <p:grpSp>
        <p:nvGrpSpPr>
          <p:cNvPr id="55" name="Group 54">
            <a:extLst>
              <a:ext uri="{FF2B5EF4-FFF2-40B4-BE49-F238E27FC236}">
                <a16:creationId xmlns:a16="http://schemas.microsoft.com/office/drawing/2014/main" id="{4B8492CB-DFBA-4A82-9778-F21493DA36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56"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57"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58"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59" name="Freeform 13">
              <a:extLst>
                <a:ext uri="{FF2B5EF4-FFF2-40B4-BE49-F238E27FC236}">
                  <a16:creationId xmlns:a16="http://schemas.microsoft.com/office/drawing/2014/main" id="{773528ED-4D37-4A77-A8CA-86B6221C5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60" name="Freeform 14">
              <a:extLst>
                <a:ext uri="{FF2B5EF4-FFF2-40B4-BE49-F238E27FC236}">
                  <a16:creationId xmlns:a16="http://schemas.microsoft.com/office/drawing/2014/main" id="{8A58A902-E944-4399-9A93-A91A6A82B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61" name="Freeform 15">
              <a:extLst>
                <a:ext uri="{FF2B5EF4-FFF2-40B4-BE49-F238E27FC236}">
                  <a16:creationId xmlns:a16="http://schemas.microsoft.com/office/drawing/2014/main" id="{4EDB1155-2E8E-4FB8-AD42-101FE438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grpSp>
        <p:nvGrpSpPr>
          <p:cNvPr id="67" name="Group 66">
            <a:extLst>
              <a:ext uri="{FF2B5EF4-FFF2-40B4-BE49-F238E27FC236}">
                <a16:creationId xmlns:a16="http://schemas.microsoft.com/office/drawing/2014/main" id="{2FF8C4E7-99DD-4911-B715-38273AAF6E89}"/>
              </a:ext>
            </a:extLst>
          </p:cNvPr>
          <p:cNvGrpSpPr/>
          <p:nvPr/>
        </p:nvGrpSpPr>
        <p:grpSpPr>
          <a:xfrm>
            <a:off x="10338321" y="4585077"/>
            <a:ext cx="2158143" cy="1857280"/>
            <a:chOff x="224032" y="4267201"/>
            <a:chExt cx="2290733" cy="1947332"/>
          </a:xfrm>
        </p:grpSpPr>
        <p:sp>
          <p:nvSpPr>
            <p:cNvPr id="68" name="Rectangle: Rounded Corners 67">
              <a:extLst>
                <a:ext uri="{FF2B5EF4-FFF2-40B4-BE49-F238E27FC236}">
                  <a16:creationId xmlns:a16="http://schemas.microsoft.com/office/drawing/2014/main" id="{8A10810D-6771-4579-9065-7E0CCF9FDF66}"/>
                </a:ext>
              </a:extLst>
            </p:cNvPr>
            <p:cNvSpPr/>
            <p:nvPr/>
          </p:nvSpPr>
          <p:spPr>
            <a:xfrm>
              <a:off x="224032" y="4346713"/>
              <a:ext cx="1512003" cy="1867820"/>
            </a:xfrm>
            <a:prstGeom prst="roundRect">
              <a:avLst/>
            </a:prstGeom>
            <a:solidFill>
              <a:schemeClr val="accent1">
                <a:lumMod val="50000"/>
              </a:schemeClr>
            </a:solidFill>
            <a:ln>
              <a:solidFill>
                <a:srgbClr val="2683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9" name="Group 68">
              <a:extLst>
                <a:ext uri="{FF2B5EF4-FFF2-40B4-BE49-F238E27FC236}">
                  <a16:creationId xmlns:a16="http://schemas.microsoft.com/office/drawing/2014/main" id="{1E0DE8C7-BBEC-4F50-ABCF-961C1CE6B52F}"/>
                </a:ext>
              </a:extLst>
            </p:cNvPr>
            <p:cNvGrpSpPr/>
            <p:nvPr/>
          </p:nvGrpSpPr>
          <p:grpSpPr>
            <a:xfrm>
              <a:off x="250538" y="4267201"/>
              <a:ext cx="2264227" cy="1867820"/>
              <a:chOff x="1456486" y="4612493"/>
              <a:chExt cx="2264227" cy="1867820"/>
            </a:xfrm>
            <a:solidFill>
              <a:srgbClr val="2683C6"/>
            </a:solidFill>
          </p:grpSpPr>
          <p:sp>
            <p:nvSpPr>
              <p:cNvPr id="71" name="Half Frame 70">
                <a:extLst>
                  <a:ext uri="{FF2B5EF4-FFF2-40B4-BE49-F238E27FC236}">
                    <a16:creationId xmlns:a16="http://schemas.microsoft.com/office/drawing/2014/main" id="{FA158744-9467-4C06-9680-40235F942120}"/>
                  </a:ext>
                </a:extLst>
              </p:cNvPr>
              <p:cNvSpPr/>
              <p:nvPr/>
            </p:nvSpPr>
            <p:spPr>
              <a:xfrm>
                <a:off x="1895060" y="4825385"/>
                <a:ext cx="967408" cy="1654928"/>
              </a:xfrm>
              <a:prstGeom prst="halfFrame">
                <a:avLst>
                  <a:gd name="adj1" fmla="val 23319"/>
                  <a:gd name="adj2" fmla="val 2271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2" name="Half Frame 71">
                <a:extLst>
                  <a:ext uri="{FF2B5EF4-FFF2-40B4-BE49-F238E27FC236}">
                    <a16:creationId xmlns:a16="http://schemas.microsoft.com/office/drawing/2014/main" id="{84316D48-0503-467B-A17B-F382F779206A}"/>
                  </a:ext>
                </a:extLst>
              </p:cNvPr>
              <p:cNvSpPr/>
              <p:nvPr/>
            </p:nvSpPr>
            <p:spPr>
              <a:xfrm rot="10800000">
                <a:off x="1456486" y="4612493"/>
                <a:ext cx="1405982" cy="784782"/>
              </a:xfrm>
              <a:prstGeom prst="halfFrame">
                <a:avLst>
                  <a:gd name="adj1" fmla="val 2406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Half Frame 72">
                <a:extLst>
                  <a:ext uri="{FF2B5EF4-FFF2-40B4-BE49-F238E27FC236}">
                    <a16:creationId xmlns:a16="http://schemas.microsoft.com/office/drawing/2014/main" id="{37F3D7D1-9CD5-423C-BD64-D2E7D8CF6EFD}"/>
                  </a:ext>
                </a:extLst>
              </p:cNvPr>
              <p:cNvSpPr/>
              <p:nvPr/>
            </p:nvSpPr>
            <p:spPr>
              <a:xfrm rot="16200000">
                <a:off x="2638870" y="4921396"/>
                <a:ext cx="757702" cy="1405984"/>
              </a:xfrm>
              <a:prstGeom prst="halfFrame">
                <a:avLst>
                  <a:gd name="adj1" fmla="val 2109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70" name="Picture 69">
              <a:extLst>
                <a:ext uri="{FF2B5EF4-FFF2-40B4-BE49-F238E27FC236}">
                  <a16:creationId xmlns:a16="http://schemas.microsoft.com/office/drawing/2014/main" id="{F1B69613-D930-4541-8391-542C6FEBD51E}"/>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206186" y="5751184"/>
              <a:ext cx="423893" cy="423893"/>
            </a:xfrm>
            <a:prstGeom prst="rect">
              <a:avLst/>
            </a:prstGeom>
          </p:spPr>
        </p:pic>
      </p:grpSp>
      <p:pic>
        <p:nvPicPr>
          <p:cNvPr id="4" name="IT_499_Ainslie_Felicia_Unit7_Intro">
            <a:hlinkClick r:id="" action="ppaction://media"/>
            <a:extLst>
              <a:ext uri="{FF2B5EF4-FFF2-40B4-BE49-F238E27FC236}">
                <a16:creationId xmlns:a16="http://schemas.microsoft.com/office/drawing/2014/main" id="{28C3CC03-2EAC-44B7-854B-096B6541B55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3371117" y="5664800"/>
            <a:ext cx="609600" cy="609600"/>
          </a:xfrm>
          <a:prstGeom prst="rect">
            <a:avLst/>
          </a:prstGeom>
        </p:spPr>
      </p:pic>
    </p:spTree>
    <p:extLst>
      <p:ext uri="{BB962C8B-B14F-4D97-AF65-F5344CB8AC3E}">
        <p14:creationId xmlns:p14="http://schemas.microsoft.com/office/powerpoint/2010/main" val="185670146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repeatCount="indefinite"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B39B9-D934-496A-8634-BCDFF3FEEA03}"/>
              </a:ext>
            </a:extLst>
          </p:cNvPr>
          <p:cNvSpPr>
            <a:spLocks noGrp="1"/>
          </p:cNvSpPr>
          <p:nvPr>
            <p:ph type="title"/>
          </p:nvPr>
        </p:nvSpPr>
        <p:spPr>
          <a:xfrm>
            <a:off x="1484312" y="685800"/>
            <a:ext cx="5747778" cy="1752599"/>
          </a:xfrm>
        </p:spPr>
        <p:txBody>
          <a:bodyPr>
            <a:normAutofit/>
          </a:bodyPr>
          <a:lstStyle/>
          <a:p>
            <a:r>
              <a:rPr lang="en-US"/>
              <a:t>Computers</a:t>
            </a:r>
          </a:p>
        </p:txBody>
      </p:sp>
      <p:sp>
        <p:nvSpPr>
          <p:cNvPr id="3" name="Content Placeholder 2">
            <a:extLst>
              <a:ext uri="{FF2B5EF4-FFF2-40B4-BE49-F238E27FC236}">
                <a16:creationId xmlns:a16="http://schemas.microsoft.com/office/drawing/2014/main" id="{98F1724D-D8A0-408F-875E-CC1AD3E52E87}"/>
              </a:ext>
            </a:extLst>
          </p:cNvPr>
          <p:cNvSpPr>
            <a:spLocks noGrp="1"/>
          </p:cNvSpPr>
          <p:nvPr>
            <p:ph idx="1"/>
          </p:nvPr>
        </p:nvSpPr>
        <p:spPr>
          <a:xfrm>
            <a:off x="1484311" y="2666999"/>
            <a:ext cx="5747778" cy="3124201"/>
          </a:xfrm>
        </p:spPr>
        <p:txBody>
          <a:bodyPr>
            <a:normAutofit/>
          </a:bodyPr>
          <a:lstStyle/>
          <a:p>
            <a:r>
              <a:rPr lang="en-US" dirty="0"/>
              <a:t>350 Dell Desktops &amp; Monitors Installed</a:t>
            </a:r>
          </a:p>
          <a:p>
            <a:r>
              <a:rPr lang="en-US" dirty="0"/>
              <a:t>150 Dell Laptops Installed</a:t>
            </a:r>
          </a:p>
          <a:p>
            <a:r>
              <a:rPr lang="en-US" dirty="0"/>
              <a:t>Windows 10 OS Installed</a:t>
            </a:r>
          </a:p>
          <a:p>
            <a:r>
              <a:rPr lang="en-US" dirty="0"/>
              <a:t>1 TB Hard Drive</a:t>
            </a:r>
          </a:p>
          <a:p>
            <a:r>
              <a:rPr lang="en-US" dirty="0"/>
              <a:t>Devices Tested</a:t>
            </a:r>
          </a:p>
        </p:txBody>
      </p:sp>
      <p:sp>
        <p:nvSpPr>
          <p:cNvPr id="13" name="Rounded Rectangle 6">
            <a:extLst>
              <a:ext uri="{FF2B5EF4-FFF2-40B4-BE49-F238E27FC236}">
                <a16:creationId xmlns:a16="http://schemas.microsoft.com/office/drawing/2014/main" id="{61DCA37C-CB0B-475A-B462-77C9CBA37C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648931"/>
            <a:ext cx="3982086"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93F6CEC-7E5E-48BC-8A50-69B058172062}"/>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990454" y="1011765"/>
            <a:ext cx="3107883" cy="2191058"/>
          </a:xfrm>
          <a:prstGeom prst="rect">
            <a:avLst/>
          </a:prstGeom>
        </p:spPr>
      </p:pic>
      <p:pic>
        <p:nvPicPr>
          <p:cNvPr id="5" name="Picture 4">
            <a:extLst>
              <a:ext uri="{FF2B5EF4-FFF2-40B4-BE49-F238E27FC236}">
                <a16:creationId xmlns:a16="http://schemas.microsoft.com/office/drawing/2014/main" id="{A21F7868-F182-4609-920E-EA9814AC8B43}"/>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7873801" y="3828118"/>
            <a:ext cx="3341190" cy="1269652"/>
          </a:xfrm>
          <a:prstGeom prst="rect">
            <a:avLst/>
          </a:prstGeom>
        </p:spPr>
      </p:pic>
    </p:spTree>
    <p:extLst>
      <p:ext uri="{BB962C8B-B14F-4D97-AF65-F5344CB8AC3E}">
        <p14:creationId xmlns:p14="http://schemas.microsoft.com/office/powerpoint/2010/main" val="3651751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776F7-1C60-47A3-B62F-24300FCD99E8}"/>
              </a:ext>
            </a:extLst>
          </p:cNvPr>
          <p:cNvSpPr>
            <a:spLocks noGrp="1"/>
          </p:cNvSpPr>
          <p:nvPr>
            <p:ph type="title"/>
          </p:nvPr>
        </p:nvSpPr>
        <p:spPr/>
        <p:txBody>
          <a:bodyPr/>
          <a:lstStyle/>
          <a:p>
            <a:r>
              <a:rPr lang="en-US" dirty="0"/>
              <a:t>Software Vendors</a:t>
            </a:r>
          </a:p>
        </p:txBody>
      </p:sp>
      <p:pic>
        <p:nvPicPr>
          <p:cNvPr id="5" name="Content Placeholder 4">
            <a:extLst>
              <a:ext uri="{FF2B5EF4-FFF2-40B4-BE49-F238E27FC236}">
                <a16:creationId xmlns:a16="http://schemas.microsoft.com/office/drawing/2014/main" id="{B9DA19FA-0A65-499D-A840-30C0663C8E96}"/>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832050" y="1974282"/>
            <a:ext cx="2502468" cy="1752600"/>
          </a:xfrm>
        </p:spPr>
      </p:pic>
      <p:pic>
        <p:nvPicPr>
          <p:cNvPr id="8" name="Picture 7">
            <a:extLst>
              <a:ext uri="{FF2B5EF4-FFF2-40B4-BE49-F238E27FC236}">
                <a16:creationId xmlns:a16="http://schemas.microsoft.com/office/drawing/2014/main" id="{CAD9A19C-1148-4235-977A-4384713394E8}"/>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545855" y="3367756"/>
            <a:ext cx="4235575" cy="1543674"/>
          </a:xfrm>
          <a:prstGeom prst="rect">
            <a:avLst/>
          </a:prstGeom>
        </p:spPr>
      </p:pic>
      <p:pic>
        <p:nvPicPr>
          <p:cNvPr id="11" name="Picture 10">
            <a:extLst>
              <a:ext uri="{FF2B5EF4-FFF2-40B4-BE49-F238E27FC236}">
                <a16:creationId xmlns:a16="http://schemas.microsoft.com/office/drawing/2014/main" id="{2C2FFD68-CC05-4C62-8193-5E45C860A84E}"/>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4072650" y="5603548"/>
            <a:ext cx="2361132" cy="603913"/>
          </a:xfrm>
          <a:prstGeom prst="rect">
            <a:avLst/>
          </a:prstGeom>
        </p:spPr>
      </p:pic>
      <p:pic>
        <p:nvPicPr>
          <p:cNvPr id="17" name="Picture 16">
            <a:extLst>
              <a:ext uri="{FF2B5EF4-FFF2-40B4-BE49-F238E27FC236}">
                <a16:creationId xmlns:a16="http://schemas.microsoft.com/office/drawing/2014/main" id="{325AECA5-9A70-4AAC-95BB-531841ACCB55}"/>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8216040" y="2109940"/>
            <a:ext cx="2732948" cy="1257815"/>
          </a:xfrm>
          <a:prstGeom prst="rect">
            <a:avLst/>
          </a:prstGeom>
        </p:spPr>
      </p:pic>
      <p:pic>
        <p:nvPicPr>
          <p:cNvPr id="23" name="Picture 22">
            <a:extLst>
              <a:ext uri="{FF2B5EF4-FFF2-40B4-BE49-F238E27FC236}">
                <a16:creationId xmlns:a16="http://schemas.microsoft.com/office/drawing/2014/main" id="{21DA7BFB-7E68-40EB-A2FF-2A74F121A7C1}"/>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9598024" y="3490017"/>
            <a:ext cx="1905000" cy="1905000"/>
          </a:xfrm>
          <a:prstGeom prst="rect">
            <a:avLst/>
          </a:prstGeom>
        </p:spPr>
      </p:pic>
      <p:pic>
        <p:nvPicPr>
          <p:cNvPr id="29" name="Picture 28">
            <a:extLst>
              <a:ext uri="{FF2B5EF4-FFF2-40B4-BE49-F238E27FC236}">
                <a16:creationId xmlns:a16="http://schemas.microsoft.com/office/drawing/2014/main" id="{491B887A-4E66-4F08-AE6C-EABBB35057D0}"/>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8119351" y="5264096"/>
            <a:ext cx="1282818" cy="1282818"/>
          </a:xfrm>
          <a:prstGeom prst="rect">
            <a:avLst/>
          </a:prstGeom>
        </p:spPr>
      </p:pic>
      <p:pic>
        <p:nvPicPr>
          <p:cNvPr id="32" name="Picture 31">
            <a:extLst>
              <a:ext uri="{FF2B5EF4-FFF2-40B4-BE49-F238E27FC236}">
                <a16:creationId xmlns:a16="http://schemas.microsoft.com/office/drawing/2014/main" id="{DAF534CD-8B7B-45DE-A659-5184D91CF254}"/>
              </a:ext>
            </a:extLst>
          </p:cNvPr>
          <p:cNvPicPr>
            <a:picLocks noChangeAspect="1"/>
          </p:cNvPicPr>
          <p:nvPr/>
        </p:nvPicPr>
        <p:blipFill>
          <a:blip r:embed="rId15">
            <a:extLst>
              <a:ext uri="{28A0092B-C50C-407E-A947-70E740481C1C}">
                <a14:useLocalDpi xmlns:a14="http://schemas.microsoft.com/office/drawing/2010/main" val="0"/>
              </a:ext>
              <a:ext uri="{837473B0-CC2E-450A-ABE3-18F120FF3D39}">
                <a1611:picAttrSrcUrl xmlns:a1611="http://schemas.microsoft.com/office/drawing/2016/11/main" r:id="rId16"/>
              </a:ext>
            </a:extLst>
          </a:blip>
          <a:stretch>
            <a:fillRect/>
          </a:stretch>
        </p:blipFill>
        <p:spPr>
          <a:xfrm>
            <a:off x="2375875" y="3980199"/>
            <a:ext cx="1414818" cy="1414818"/>
          </a:xfrm>
          <a:prstGeom prst="rect">
            <a:avLst/>
          </a:prstGeom>
        </p:spPr>
      </p:pic>
    </p:spTree>
    <p:extLst>
      <p:ext uri="{BB962C8B-B14F-4D97-AF65-F5344CB8AC3E}">
        <p14:creationId xmlns:p14="http://schemas.microsoft.com/office/powerpoint/2010/main" val="2978009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31" name="Rectangle 17">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19">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21"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3">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3">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25"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26"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27"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28"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9"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0"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45F56E94-3C65-4595-A45E-46ACD52A5868}"/>
              </a:ext>
            </a:extLst>
          </p:cNvPr>
          <p:cNvSpPr>
            <a:spLocks noGrp="1"/>
          </p:cNvSpPr>
          <p:nvPr>
            <p:ph type="title"/>
          </p:nvPr>
        </p:nvSpPr>
        <p:spPr>
          <a:xfrm>
            <a:off x="3962399" y="685800"/>
            <a:ext cx="7345891" cy="1413933"/>
          </a:xfrm>
        </p:spPr>
        <p:txBody>
          <a:bodyPr>
            <a:normAutofit/>
          </a:bodyPr>
          <a:lstStyle/>
          <a:p>
            <a:r>
              <a:rPr lang="en-US" dirty="0"/>
              <a:t>Network Hardware</a:t>
            </a:r>
          </a:p>
        </p:txBody>
      </p:sp>
      <p:sp>
        <p:nvSpPr>
          <p:cNvPr id="3" name="Content Placeholder 2">
            <a:extLst>
              <a:ext uri="{FF2B5EF4-FFF2-40B4-BE49-F238E27FC236}">
                <a16:creationId xmlns:a16="http://schemas.microsoft.com/office/drawing/2014/main" id="{FE9421E0-5EC1-4E40-948D-BE9A3EE8C053}"/>
              </a:ext>
            </a:extLst>
          </p:cNvPr>
          <p:cNvSpPr>
            <a:spLocks noGrp="1"/>
          </p:cNvSpPr>
          <p:nvPr>
            <p:ph idx="1"/>
          </p:nvPr>
        </p:nvSpPr>
        <p:spPr>
          <a:xfrm>
            <a:off x="3843867" y="2048933"/>
            <a:ext cx="7659156" cy="4702623"/>
          </a:xfrm>
        </p:spPr>
        <p:txBody>
          <a:bodyPr>
            <a:normAutofit/>
          </a:bodyPr>
          <a:lstStyle/>
          <a:p>
            <a:r>
              <a:rPr lang="en-US" dirty="0"/>
              <a:t>Cat7 Cables</a:t>
            </a:r>
          </a:p>
          <a:p>
            <a:r>
              <a:rPr lang="en-US" dirty="0"/>
              <a:t>RJ45 Jacks</a:t>
            </a:r>
          </a:p>
          <a:p>
            <a:r>
              <a:rPr lang="en-US" dirty="0"/>
              <a:t>PowerEdge T440 Tower Server</a:t>
            </a:r>
          </a:p>
          <a:p>
            <a:r>
              <a:rPr lang="en-US" dirty="0"/>
              <a:t>48-Port NETGEAR GS748T</a:t>
            </a:r>
          </a:p>
          <a:p>
            <a:r>
              <a:rPr lang="en-US" dirty="0"/>
              <a:t>NETGEAR Nighthawk R7000</a:t>
            </a:r>
          </a:p>
          <a:p>
            <a:r>
              <a:rPr lang="en-US" dirty="0"/>
              <a:t>ARRIS SURFboard DOCSIS 3.0</a:t>
            </a:r>
          </a:p>
          <a:p>
            <a:r>
              <a:rPr lang="en-US" dirty="0"/>
              <a:t>Linksys LAPN600 Business WAP</a:t>
            </a:r>
          </a:p>
          <a:p>
            <a:endParaRPr lang="en-US" dirty="0"/>
          </a:p>
          <a:p>
            <a:endParaRPr lang="en-US" dirty="0"/>
          </a:p>
        </p:txBody>
      </p:sp>
      <p:grpSp>
        <p:nvGrpSpPr>
          <p:cNvPr id="57" name="Group 56">
            <a:extLst>
              <a:ext uri="{FF2B5EF4-FFF2-40B4-BE49-F238E27FC236}">
                <a16:creationId xmlns:a16="http://schemas.microsoft.com/office/drawing/2014/main" id="{62DE0006-BD9C-44AE-8956-FD30CB7B6185}"/>
              </a:ext>
            </a:extLst>
          </p:cNvPr>
          <p:cNvGrpSpPr/>
          <p:nvPr/>
        </p:nvGrpSpPr>
        <p:grpSpPr>
          <a:xfrm>
            <a:off x="20" y="10"/>
            <a:ext cx="3459143" cy="6857990"/>
            <a:chOff x="20" y="10"/>
            <a:chExt cx="3459143" cy="6857990"/>
          </a:xfrm>
        </p:grpSpPr>
        <p:pic>
          <p:nvPicPr>
            <p:cNvPr id="13" name="Picture 12">
              <a:extLst>
                <a:ext uri="{FF2B5EF4-FFF2-40B4-BE49-F238E27FC236}">
                  <a16:creationId xmlns:a16="http://schemas.microsoft.com/office/drawing/2014/main" id="{22E33F52-00A8-4A74-B7B7-043BEDE065A5}"/>
                </a:ext>
              </a:extLst>
            </p:cNvPr>
            <p:cNvPicPr>
              <a:picLocks noChangeAspect="1"/>
            </p:cNvPicPr>
            <p:nvPr/>
          </p:nvPicPr>
          <p:blipFill rotWithShape="1">
            <a:blip r:embed="rId4"/>
            <a:srcRect l="34536" r="37092"/>
            <a:stretch/>
          </p:blipFill>
          <p:spPr>
            <a:xfrm>
              <a:off x="20" y="10"/>
              <a:ext cx="3459143" cy="6857990"/>
            </a:xfrm>
            <a:custGeom>
              <a:avLst/>
              <a:gdLst>
                <a:gd name="connsiteX0" fmla="*/ 0 w 5435600"/>
                <a:gd name="connsiteY0" fmla="*/ 0 h 6858000"/>
                <a:gd name="connsiteX1" fmla="*/ 5435600 w 5435600"/>
                <a:gd name="connsiteY1" fmla="*/ 0 h 6858000"/>
                <a:gd name="connsiteX2" fmla="*/ 5435600 w 5435600"/>
                <a:gd name="connsiteY2" fmla="*/ 6858000 h 6858000"/>
                <a:gd name="connsiteX3" fmla="*/ 0 w 5435600"/>
                <a:gd name="connsiteY3" fmla="*/ 6858000 h 6858000"/>
                <a:gd name="connsiteX4" fmla="*/ 0 w 5435600"/>
                <a:gd name="connsiteY4" fmla="*/ 0 h 6858000"/>
                <a:gd name="connsiteX0" fmla="*/ 0 w 5435600"/>
                <a:gd name="connsiteY0" fmla="*/ 0 h 6858000"/>
                <a:gd name="connsiteX1" fmla="*/ 3513666 w 5435600"/>
                <a:gd name="connsiteY1" fmla="*/ 0 h 6858000"/>
                <a:gd name="connsiteX2" fmla="*/ 5435600 w 5435600"/>
                <a:gd name="connsiteY2" fmla="*/ 6858000 h 6858000"/>
                <a:gd name="connsiteX3" fmla="*/ 0 w 5435600"/>
                <a:gd name="connsiteY3" fmla="*/ 6858000 h 6858000"/>
                <a:gd name="connsiteX4" fmla="*/ 0 w 5435600"/>
                <a:gd name="connsiteY4" fmla="*/ 0 h 6858000"/>
                <a:gd name="connsiteX0" fmla="*/ 0 w 5435600"/>
                <a:gd name="connsiteY0" fmla="*/ 0 h 6858000"/>
                <a:gd name="connsiteX1" fmla="*/ 3513666 w 5435600"/>
                <a:gd name="connsiteY1" fmla="*/ 0 h 6858000"/>
                <a:gd name="connsiteX2" fmla="*/ 4199467 w 5435600"/>
                <a:gd name="connsiteY2" fmla="*/ 2455333 h 6858000"/>
                <a:gd name="connsiteX3" fmla="*/ 5435600 w 5435600"/>
                <a:gd name="connsiteY3" fmla="*/ 6858000 h 6858000"/>
                <a:gd name="connsiteX4" fmla="*/ 0 w 5435600"/>
                <a:gd name="connsiteY4" fmla="*/ 6858000 h 6858000"/>
                <a:gd name="connsiteX5" fmla="*/ 0 w 5435600"/>
                <a:gd name="connsiteY5" fmla="*/ 0 h 6858000"/>
                <a:gd name="connsiteX0" fmla="*/ 0 w 5435600"/>
                <a:gd name="connsiteY0" fmla="*/ 0 h 6858000"/>
                <a:gd name="connsiteX1" fmla="*/ 3513666 w 5435600"/>
                <a:gd name="connsiteY1" fmla="*/ 0 h 6858000"/>
                <a:gd name="connsiteX2" fmla="*/ 2861733 w 5435600"/>
                <a:gd name="connsiteY2" fmla="*/ 2548466 h 6858000"/>
                <a:gd name="connsiteX3" fmla="*/ 5435600 w 5435600"/>
                <a:gd name="connsiteY3" fmla="*/ 6858000 h 6858000"/>
                <a:gd name="connsiteX4" fmla="*/ 0 w 5435600"/>
                <a:gd name="connsiteY4" fmla="*/ 6858000 h 6858000"/>
                <a:gd name="connsiteX5" fmla="*/ 0 w 5435600"/>
                <a:gd name="connsiteY5" fmla="*/ 0 h 6858000"/>
                <a:gd name="connsiteX0" fmla="*/ 0 w 5448300"/>
                <a:gd name="connsiteY0" fmla="*/ 0 h 6858000"/>
                <a:gd name="connsiteX1" fmla="*/ 3513666 w 5448300"/>
                <a:gd name="connsiteY1" fmla="*/ 0 h 6858000"/>
                <a:gd name="connsiteX2" fmla="*/ 2861733 w 5448300"/>
                <a:gd name="connsiteY2" fmla="*/ 2548466 h 6858000"/>
                <a:gd name="connsiteX3" fmla="*/ 5448300 w 5448300"/>
                <a:gd name="connsiteY3" fmla="*/ 6853767 h 6858000"/>
                <a:gd name="connsiteX4" fmla="*/ 0 w 5448300"/>
                <a:gd name="connsiteY4" fmla="*/ 6858000 h 6858000"/>
                <a:gd name="connsiteX5" fmla="*/ 0 w 5448300"/>
                <a:gd name="connsiteY5" fmla="*/ 0 h 6858000"/>
                <a:gd name="connsiteX0" fmla="*/ 0 w 5448300"/>
                <a:gd name="connsiteY0" fmla="*/ 0 h 6858000"/>
                <a:gd name="connsiteX1" fmla="*/ 3174999 w 5448300"/>
                <a:gd name="connsiteY1" fmla="*/ 0 h 6858000"/>
                <a:gd name="connsiteX2" fmla="*/ 2861733 w 5448300"/>
                <a:gd name="connsiteY2" fmla="*/ 2548466 h 6858000"/>
                <a:gd name="connsiteX3" fmla="*/ 5448300 w 5448300"/>
                <a:gd name="connsiteY3" fmla="*/ 6853767 h 6858000"/>
                <a:gd name="connsiteX4" fmla="*/ 0 w 5448300"/>
                <a:gd name="connsiteY4" fmla="*/ 6858000 h 6858000"/>
                <a:gd name="connsiteX5" fmla="*/ 0 w 5448300"/>
                <a:gd name="connsiteY5" fmla="*/ 0 h 6858000"/>
                <a:gd name="connsiteX0" fmla="*/ 0 w 5448300"/>
                <a:gd name="connsiteY0" fmla="*/ 0 h 6858000"/>
                <a:gd name="connsiteX1" fmla="*/ 3174999 w 5448300"/>
                <a:gd name="connsiteY1" fmla="*/ 0 h 6858000"/>
                <a:gd name="connsiteX2" fmla="*/ 2294466 w 5448300"/>
                <a:gd name="connsiteY2" fmla="*/ 5223932 h 6858000"/>
                <a:gd name="connsiteX3" fmla="*/ 5448300 w 5448300"/>
                <a:gd name="connsiteY3" fmla="*/ 6853767 h 6858000"/>
                <a:gd name="connsiteX4" fmla="*/ 0 w 5448300"/>
                <a:gd name="connsiteY4" fmla="*/ 6858000 h 6858000"/>
                <a:gd name="connsiteX5" fmla="*/ 0 w 5448300"/>
                <a:gd name="connsiteY5" fmla="*/ 0 h 6858000"/>
                <a:gd name="connsiteX0" fmla="*/ 0 w 3458633"/>
                <a:gd name="connsiteY0" fmla="*/ 0 h 6858000"/>
                <a:gd name="connsiteX1" fmla="*/ 3174999 w 3458633"/>
                <a:gd name="connsiteY1" fmla="*/ 0 h 6858000"/>
                <a:gd name="connsiteX2" fmla="*/ 2294466 w 3458633"/>
                <a:gd name="connsiteY2" fmla="*/ 5223932 h 6858000"/>
                <a:gd name="connsiteX3" fmla="*/ 3458633 w 3458633"/>
                <a:gd name="connsiteY3" fmla="*/ 6853767 h 6858000"/>
                <a:gd name="connsiteX4" fmla="*/ 0 w 3458633"/>
                <a:gd name="connsiteY4" fmla="*/ 6858000 h 6858000"/>
                <a:gd name="connsiteX5" fmla="*/ 0 w 3458633"/>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3" name="TextBox 32">
              <a:extLst>
                <a:ext uri="{FF2B5EF4-FFF2-40B4-BE49-F238E27FC236}">
                  <a16:creationId xmlns:a16="http://schemas.microsoft.com/office/drawing/2014/main" id="{39BA6444-AFE6-4F2F-92AA-D54F9D9BC18B}"/>
                </a:ext>
              </a:extLst>
            </p:cNvPr>
            <p:cNvSpPr txBox="1"/>
            <p:nvPr/>
          </p:nvSpPr>
          <p:spPr>
            <a:xfrm rot="10800000" flipH="1" flipV="1">
              <a:off x="1320609" y="6376822"/>
              <a:ext cx="839977" cy="246221"/>
            </a:xfrm>
            <a:prstGeom prst="rect">
              <a:avLst/>
            </a:prstGeom>
            <a:noFill/>
          </p:spPr>
          <p:txBody>
            <a:bodyPr wrap="square" rtlCol="0">
              <a:spAutoFit/>
            </a:bodyPr>
            <a:lstStyle/>
            <a:p>
              <a:r>
                <a:rPr lang="en-US" sz="1000" dirty="0"/>
                <a:t>(Dell, 2018)</a:t>
              </a:r>
            </a:p>
          </p:txBody>
        </p:sp>
      </p:grpSp>
      <p:pic>
        <p:nvPicPr>
          <p:cNvPr id="49" name="Picture 48">
            <a:extLst>
              <a:ext uri="{FF2B5EF4-FFF2-40B4-BE49-F238E27FC236}">
                <a16:creationId xmlns:a16="http://schemas.microsoft.com/office/drawing/2014/main" id="{ADFBC018-5F03-4979-AEA0-DBFEB940F6B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9242438" y="3008331"/>
            <a:ext cx="1934755" cy="1294997"/>
          </a:xfrm>
          <a:prstGeom prst="rect">
            <a:avLst/>
          </a:prstGeom>
          <a:effectLst>
            <a:softEdge rad="76200"/>
          </a:effectLst>
        </p:spPr>
      </p:pic>
      <p:grpSp>
        <p:nvGrpSpPr>
          <p:cNvPr id="55" name="Group 54">
            <a:extLst>
              <a:ext uri="{FF2B5EF4-FFF2-40B4-BE49-F238E27FC236}">
                <a16:creationId xmlns:a16="http://schemas.microsoft.com/office/drawing/2014/main" id="{DF2CA139-985F-4C1C-91B5-6161FE67BB69}"/>
              </a:ext>
            </a:extLst>
          </p:cNvPr>
          <p:cNvGrpSpPr/>
          <p:nvPr/>
        </p:nvGrpSpPr>
        <p:grpSpPr>
          <a:xfrm>
            <a:off x="8662178" y="4428232"/>
            <a:ext cx="883710" cy="2304592"/>
            <a:chOff x="11055137" y="2112608"/>
            <a:chExt cx="883710" cy="2304592"/>
          </a:xfrm>
        </p:grpSpPr>
        <p:pic>
          <p:nvPicPr>
            <p:cNvPr id="1026" name="Picture 2" descr="https://www.arris.com/globalassets/surfboard-new/products/sb6141/sb6141-product-detail-gallery-front.png">
              <a:extLst>
                <a:ext uri="{FF2B5EF4-FFF2-40B4-BE49-F238E27FC236}">
                  <a16:creationId xmlns:a16="http://schemas.microsoft.com/office/drawing/2014/main" id="{414F5DF1-E47B-435C-A334-2D9665E3F9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16945" y="2112608"/>
              <a:ext cx="760095" cy="1970617"/>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762B5936-5791-43FA-A667-A3FA6ADF508E}"/>
                </a:ext>
              </a:extLst>
            </p:cNvPr>
            <p:cNvSpPr txBox="1"/>
            <p:nvPr/>
          </p:nvSpPr>
          <p:spPr>
            <a:xfrm>
              <a:off x="11055137" y="4170979"/>
              <a:ext cx="883710" cy="246221"/>
            </a:xfrm>
            <a:prstGeom prst="rect">
              <a:avLst/>
            </a:prstGeom>
            <a:noFill/>
          </p:spPr>
          <p:txBody>
            <a:bodyPr wrap="square" rtlCol="0">
              <a:spAutoFit/>
            </a:bodyPr>
            <a:lstStyle/>
            <a:p>
              <a:r>
                <a:rPr lang="en-US" sz="1000" dirty="0"/>
                <a:t>(ARRIS, n.d.)</a:t>
              </a:r>
            </a:p>
          </p:txBody>
        </p:sp>
      </p:grpSp>
      <p:grpSp>
        <p:nvGrpSpPr>
          <p:cNvPr id="54" name="Group 53">
            <a:extLst>
              <a:ext uri="{FF2B5EF4-FFF2-40B4-BE49-F238E27FC236}">
                <a16:creationId xmlns:a16="http://schemas.microsoft.com/office/drawing/2014/main" id="{90DC0D01-44E2-42D5-BD29-A83F9DC88EFD}"/>
              </a:ext>
            </a:extLst>
          </p:cNvPr>
          <p:cNvGrpSpPr/>
          <p:nvPr/>
        </p:nvGrpSpPr>
        <p:grpSpPr>
          <a:xfrm>
            <a:off x="10112984" y="4502481"/>
            <a:ext cx="1896368" cy="1896368"/>
            <a:chOff x="7493165" y="4428232"/>
            <a:chExt cx="1896368" cy="1896368"/>
          </a:xfrm>
        </p:grpSpPr>
        <p:pic>
          <p:nvPicPr>
            <p:cNvPr id="53" name="Picture 52">
              <a:extLst>
                <a:ext uri="{FF2B5EF4-FFF2-40B4-BE49-F238E27FC236}">
                  <a16:creationId xmlns:a16="http://schemas.microsoft.com/office/drawing/2014/main" id="{5A189BB1-32B0-4691-A311-0B4595B1596D}"/>
                </a:ext>
              </a:extLst>
            </p:cNvPr>
            <p:cNvPicPr>
              <a:picLocks noChangeAspect="1"/>
            </p:cNvPicPr>
            <p:nvPr/>
          </p:nvPicPr>
          <p:blipFill>
            <a:blip r:embed="rId8"/>
            <a:stretch>
              <a:fillRect/>
            </a:stretch>
          </p:blipFill>
          <p:spPr>
            <a:xfrm>
              <a:off x="7493165" y="4428232"/>
              <a:ext cx="1896368" cy="1896368"/>
            </a:xfrm>
            <a:prstGeom prst="rect">
              <a:avLst/>
            </a:prstGeom>
            <a:effectLst>
              <a:softEdge rad="165100"/>
            </a:effectLst>
          </p:spPr>
        </p:pic>
        <p:sp>
          <p:nvSpPr>
            <p:cNvPr id="56" name="TextBox 55">
              <a:extLst>
                <a:ext uri="{FF2B5EF4-FFF2-40B4-BE49-F238E27FC236}">
                  <a16:creationId xmlns:a16="http://schemas.microsoft.com/office/drawing/2014/main" id="{4CE2E3EE-6960-4913-91F5-2F9A72A5E549}"/>
                </a:ext>
              </a:extLst>
            </p:cNvPr>
            <p:cNvSpPr txBox="1"/>
            <p:nvPr/>
          </p:nvSpPr>
          <p:spPr>
            <a:xfrm>
              <a:off x="8062593" y="5921391"/>
              <a:ext cx="883710" cy="246221"/>
            </a:xfrm>
            <a:prstGeom prst="rect">
              <a:avLst/>
            </a:prstGeom>
            <a:noFill/>
          </p:spPr>
          <p:txBody>
            <a:bodyPr wrap="square" rtlCol="0">
              <a:spAutoFit/>
            </a:bodyPr>
            <a:lstStyle/>
            <a:p>
              <a:r>
                <a:rPr lang="en-US" sz="1000" dirty="0"/>
                <a:t>(Dell, 2018)</a:t>
              </a:r>
            </a:p>
          </p:txBody>
        </p:sp>
      </p:grpSp>
      <p:grpSp>
        <p:nvGrpSpPr>
          <p:cNvPr id="59" name="Group 58">
            <a:extLst>
              <a:ext uri="{FF2B5EF4-FFF2-40B4-BE49-F238E27FC236}">
                <a16:creationId xmlns:a16="http://schemas.microsoft.com/office/drawing/2014/main" id="{C977BC6B-D805-4D89-AA0A-DB85237D4A34}"/>
              </a:ext>
            </a:extLst>
          </p:cNvPr>
          <p:cNvGrpSpPr/>
          <p:nvPr/>
        </p:nvGrpSpPr>
        <p:grpSpPr>
          <a:xfrm>
            <a:off x="7839576" y="1512807"/>
            <a:ext cx="1685424" cy="1685424"/>
            <a:chOff x="6276181" y="4633689"/>
            <a:chExt cx="1685424" cy="1685424"/>
          </a:xfrm>
        </p:grpSpPr>
        <p:pic>
          <p:nvPicPr>
            <p:cNvPr id="58" name="Picture 57">
              <a:extLst>
                <a:ext uri="{FF2B5EF4-FFF2-40B4-BE49-F238E27FC236}">
                  <a16:creationId xmlns:a16="http://schemas.microsoft.com/office/drawing/2014/main" id="{6F56EF77-B8EA-4B55-B717-EF9EC4D94DD8}"/>
                </a:ext>
              </a:extLst>
            </p:cNvPr>
            <p:cNvPicPr>
              <a:picLocks noChangeAspect="1"/>
            </p:cNvPicPr>
            <p:nvPr/>
          </p:nvPicPr>
          <p:blipFill rotWithShape="1">
            <a:blip r:embed="rId9"/>
            <a:srcRect l="-1200" t="-11440" r="-1200" b="-11440"/>
            <a:stretch/>
          </p:blipFill>
          <p:spPr>
            <a:xfrm>
              <a:off x="6276181" y="4633689"/>
              <a:ext cx="1685424" cy="1685424"/>
            </a:xfrm>
            <a:prstGeom prst="rect">
              <a:avLst/>
            </a:prstGeom>
            <a:effectLst>
              <a:softEdge rad="127000"/>
            </a:effectLst>
          </p:spPr>
        </p:pic>
        <p:sp>
          <p:nvSpPr>
            <p:cNvPr id="61" name="TextBox 60">
              <a:extLst>
                <a:ext uri="{FF2B5EF4-FFF2-40B4-BE49-F238E27FC236}">
                  <a16:creationId xmlns:a16="http://schemas.microsoft.com/office/drawing/2014/main" id="{36DBB50B-E214-423A-8079-DDF00818C49F}"/>
                </a:ext>
              </a:extLst>
            </p:cNvPr>
            <p:cNvSpPr txBox="1"/>
            <p:nvPr/>
          </p:nvSpPr>
          <p:spPr>
            <a:xfrm>
              <a:off x="6666944" y="5805197"/>
              <a:ext cx="883710" cy="246221"/>
            </a:xfrm>
            <a:prstGeom prst="rect">
              <a:avLst/>
            </a:prstGeom>
            <a:noFill/>
          </p:spPr>
          <p:txBody>
            <a:bodyPr wrap="square" rtlCol="0">
              <a:spAutoFit/>
            </a:bodyPr>
            <a:lstStyle/>
            <a:p>
              <a:r>
                <a:rPr lang="en-US" sz="1000" dirty="0"/>
                <a:t>(Dell, 2018)</a:t>
              </a:r>
            </a:p>
          </p:txBody>
        </p:sp>
      </p:grpSp>
    </p:spTree>
    <p:extLst>
      <p:ext uri="{BB962C8B-B14F-4D97-AF65-F5344CB8AC3E}">
        <p14:creationId xmlns:p14="http://schemas.microsoft.com/office/powerpoint/2010/main" val="2076606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B5C68-0402-4C8B-9775-35FA325D69E4}"/>
              </a:ext>
            </a:extLst>
          </p:cNvPr>
          <p:cNvSpPr>
            <a:spLocks noGrp="1"/>
          </p:cNvSpPr>
          <p:nvPr>
            <p:ph type="title"/>
          </p:nvPr>
        </p:nvSpPr>
        <p:spPr/>
        <p:txBody>
          <a:bodyPr/>
          <a:lstStyle/>
          <a:p>
            <a:r>
              <a:rPr lang="en-US" dirty="0"/>
              <a:t>Security Measures</a:t>
            </a:r>
          </a:p>
        </p:txBody>
      </p:sp>
      <p:sp>
        <p:nvSpPr>
          <p:cNvPr id="3" name="Content Placeholder 2">
            <a:extLst>
              <a:ext uri="{FF2B5EF4-FFF2-40B4-BE49-F238E27FC236}">
                <a16:creationId xmlns:a16="http://schemas.microsoft.com/office/drawing/2014/main" id="{CFD8E41F-19AF-4EBC-BD9D-FB2BD98A66BD}"/>
              </a:ext>
            </a:extLst>
          </p:cNvPr>
          <p:cNvSpPr>
            <a:spLocks noGrp="1"/>
          </p:cNvSpPr>
          <p:nvPr>
            <p:ph idx="1"/>
          </p:nvPr>
        </p:nvSpPr>
        <p:spPr>
          <a:xfrm>
            <a:off x="1484311" y="2666999"/>
            <a:ext cx="4050216" cy="3124201"/>
          </a:xfrm>
        </p:spPr>
        <p:txBody>
          <a:bodyPr/>
          <a:lstStyle/>
          <a:p>
            <a:r>
              <a:rPr lang="en-US" dirty="0"/>
              <a:t>Power On Notification</a:t>
            </a:r>
          </a:p>
          <a:p>
            <a:r>
              <a:rPr lang="en-US" dirty="0"/>
              <a:t>Device Use Contract</a:t>
            </a:r>
          </a:p>
          <a:p>
            <a:r>
              <a:rPr lang="en-US" dirty="0"/>
              <a:t>Physical Locks</a:t>
            </a:r>
          </a:p>
          <a:p>
            <a:r>
              <a:rPr lang="en-US" dirty="0"/>
              <a:t>Virtual Locks</a:t>
            </a:r>
          </a:p>
          <a:p>
            <a:r>
              <a:rPr lang="en-US" dirty="0"/>
              <a:t>Access Restrictions</a:t>
            </a:r>
          </a:p>
          <a:p>
            <a:r>
              <a:rPr lang="en-US" dirty="0"/>
              <a:t>Port Security </a:t>
            </a:r>
          </a:p>
        </p:txBody>
      </p:sp>
      <p:grpSp>
        <p:nvGrpSpPr>
          <p:cNvPr id="15" name="Group 14">
            <a:extLst>
              <a:ext uri="{FF2B5EF4-FFF2-40B4-BE49-F238E27FC236}">
                <a16:creationId xmlns:a16="http://schemas.microsoft.com/office/drawing/2014/main" id="{DB2FD57B-2A96-4939-BA9A-7308DD718044}"/>
              </a:ext>
            </a:extLst>
          </p:cNvPr>
          <p:cNvGrpSpPr/>
          <p:nvPr/>
        </p:nvGrpSpPr>
        <p:grpSpPr>
          <a:xfrm>
            <a:off x="6657475" y="2666998"/>
            <a:ext cx="5155154" cy="3124201"/>
            <a:chOff x="6096000" y="2609850"/>
            <a:chExt cx="5543550" cy="3181350"/>
          </a:xfrm>
        </p:grpSpPr>
        <p:grpSp>
          <p:nvGrpSpPr>
            <p:cNvPr id="13" name="Group 12">
              <a:extLst>
                <a:ext uri="{FF2B5EF4-FFF2-40B4-BE49-F238E27FC236}">
                  <a16:creationId xmlns:a16="http://schemas.microsoft.com/office/drawing/2014/main" id="{CCB42AF8-81B3-479F-8D07-E9682EAD4936}"/>
                </a:ext>
              </a:extLst>
            </p:cNvPr>
            <p:cNvGrpSpPr/>
            <p:nvPr/>
          </p:nvGrpSpPr>
          <p:grpSpPr>
            <a:xfrm>
              <a:off x="6096000" y="2609850"/>
              <a:ext cx="5543550" cy="3181350"/>
              <a:chOff x="6096000" y="2609850"/>
              <a:chExt cx="5543550" cy="3181350"/>
            </a:xfrm>
          </p:grpSpPr>
          <p:pic>
            <p:nvPicPr>
              <p:cNvPr id="12" name="Picture 11">
                <a:extLst>
                  <a:ext uri="{FF2B5EF4-FFF2-40B4-BE49-F238E27FC236}">
                    <a16:creationId xmlns:a16="http://schemas.microsoft.com/office/drawing/2014/main" id="{3DD9C54F-F025-4575-BB35-19A80220B5B1}"/>
                  </a:ext>
                </a:extLst>
              </p:cNvPr>
              <p:cNvPicPr>
                <a:picLocks noChangeAspect="1"/>
              </p:cNvPicPr>
              <p:nvPr/>
            </p:nvPicPr>
            <p:blipFill>
              <a:blip r:embed="rId3"/>
              <a:stretch>
                <a:fillRect/>
              </a:stretch>
            </p:blipFill>
            <p:spPr>
              <a:xfrm>
                <a:off x="6096000" y="2609850"/>
                <a:ext cx="5543550" cy="3181350"/>
              </a:xfrm>
              <a:prstGeom prst="rect">
                <a:avLst/>
              </a:prstGeom>
            </p:spPr>
          </p:pic>
          <p:pic>
            <p:nvPicPr>
              <p:cNvPr id="10" name="Picture 9">
                <a:extLst>
                  <a:ext uri="{FF2B5EF4-FFF2-40B4-BE49-F238E27FC236}">
                    <a16:creationId xmlns:a16="http://schemas.microsoft.com/office/drawing/2014/main" id="{B0B4896D-E33A-45BD-BDD7-D7EB1352F86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782425" y="3100131"/>
                <a:ext cx="741324" cy="657737"/>
              </a:xfrm>
              <a:prstGeom prst="rect">
                <a:avLst/>
              </a:prstGeom>
            </p:spPr>
          </p:pic>
        </p:grpSp>
        <p:sp>
          <p:nvSpPr>
            <p:cNvPr id="14" name="Rectangle 13">
              <a:extLst>
                <a:ext uri="{FF2B5EF4-FFF2-40B4-BE49-F238E27FC236}">
                  <a16:creationId xmlns:a16="http://schemas.microsoft.com/office/drawing/2014/main" id="{C7E0779B-3668-480A-A267-26E0C0C9D723}"/>
                </a:ext>
              </a:extLst>
            </p:cNvPr>
            <p:cNvSpPr/>
            <p:nvPr/>
          </p:nvSpPr>
          <p:spPr>
            <a:xfrm>
              <a:off x="10026317" y="5325979"/>
              <a:ext cx="962526" cy="240632"/>
            </a:xfrm>
            <a:prstGeom prst="rect">
              <a:avLst/>
            </a:prstGeom>
            <a:solidFill>
              <a:schemeClr val="bg2">
                <a:lumMod val="75000"/>
              </a:schemeClr>
            </a:solidFill>
            <a:ln>
              <a:solidFill>
                <a:schemeClr val="tx1"/>
              </a:solid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t>I </a:t>
              </a:r>
              <a:r>
                <a:rPr lang="en-US" sz="1600" dirty="0"/>
                <a:t>Accept</a:t>
              </a:r>
            </a:p>
          </p:txBody>
        </p:sp>
      </p:grpSp>
      <p:pic>
        <p:nvPicPr>
          <p:cNvPr id="20" name="Picture 19">
            <a:extLst>
              <a:ext uri="{FF2B5EF4-FFF2-40B4-BE49-F238E27FC236}">
                <a16:creationId xmlns:a16="http://schemas.microsoft.com/office/drawing/2014/main" id="{060F897B-4BC5-4484-8B28-07282EC0520E}"/>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4853786" y="3380873"/>
            <a:ext cx="1521901" cy="188888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753816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22B2A-0527-4600-AC82-497731FAD249}"/>
              </a:ext>
            </a:extLst>
          </p:cNvPr>
          <p:cNvSpPr>
            <a:spLocks noGrp="1"/>
          </p:cNvSpPr>
          <p:nvPr>
            <p:ph type="title"/>
          </p:nvPr>
        </p:nvSpPr>
        <p:spPr>
          <a:xfrm>
            <a:off x="1484312" y="685800"/>
            <a:ext cx="2812386" cy="1752599"/>
          </a:xfrm>
        </p:spPr>
        <p:txBody>
          <a:bodyPr>
            <a:normAutofit/>
          </a:bodyPr>
          <a:lstStyle/>
          <a:p>
            <a:r>
              <a:rPr lang="en-US" sz="3200"/>
              <a:t>Testing</a:t>
            </a:r>
          </a:p>
        </p:txBody>
      </p:sp>
      <p:sp>
        <p:nvSpPr>
          <p:cNvPr id="3" name="Content Placeholder 2">
            <a:extLst>
              <a:ext uri="{FF2B5EF4-FFF2-40B4-BE49-F238E27FC236}">
                <a16:creationId xmlns:a16="http://schemas.microsoft.com/office/drawing/2014/main" id="{97C2D287-5F5C-4471-B31B-E08C764CDAE4}"/>
              </a:ext>
            </a:extLst>
          </p:cNvPr>
          <p:cNvSpPr>
            <a:spLocks noGrp="1"/>
          </p:cNvSpPr>
          <p:nvPr>
            <p:ph idx="1"/>
          </p:nvPr>
        </p:nvSpPr>
        <p:spPr>
          <a:xfrm>
            <a:off x="1780673" y="2346158"/>
            <a:ext cx="3248590" cy="3049756"/>
          </a:xfrm>
        </p:spPr>
        <p:txBody>
          <a:bodyPr>
            <a:normAutofit/>
          </a:bodyPr>
          <a:lstStyle/>
          <a:p>
            <a:r>
              <a:rPr lang="en-US" sz="1800" dirty="0"/>
              <a:t>Connectivity</a:t>
            </a:r>
          </a:p>
          <a:p>
            <a:r>
              <a:rPr lang="en-US" sz="1800" dirty="0"/>
              <a:t>Authentication Credentials</a:t>
            </a:r>
          </a:p>
          <a:p>
            <a:r>
              <a:rPr lang="en-US" sz="1800" dirty="0"/>
              <a:t> Access Restrictions</a:t>
            </a:r>
          </a:p>
          <a:p>
            <a:r>
              <a:rPr lang="en-US" sz="1800" dirty="0"/>
              <a:t>Port Access</a:t>
            </a:r>
          </a:p>
          <a:p>
            <a:pPr marL="0" indent="0">
              <a:buNone/>
            </a:pPr>
            <a:endParaRPr lang="en-US" sz="1800" dirty="0"/>
          </a:p>
        </p:txBody>
      </p:sp>
      <p:pic>
        <p:nvPicPr>
          <p:cNvPr id="17" name="Picture 16">
            <a:extLst>
              <a:ext uri="{FF2B5EF4-FFF2-40B4-BE49-F238E27FC236}">
                <a16:creationId xmlns:a16="http://schemas.microsoft.com/office/drawing/2014/main" id="{977636BC-E49C-41D6-A7EC-9E10F005CD1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644938" y="5395914"/>
            <a:ext cx="1858536" cy="790572"/>
          </a:xfrm>
          <a:prstGeom prst="roundRect">
            <a:avLst>
              <a:gd name="adj" fmla="val 4380"/>
            </a:avLst>
          </a:prstGeom>
          <a:ln w="127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14" name="Picture 13">
            <a:extLst>
              <a:ext uri="{FF2B5EF4-FFF2-40B4-BE49-F238E27FC236}">
                <a16:creationId xmlns:a16="http://schemas.microsoft.com/office/drawing/2014/main" id="{F1D88767-EB77-4C2F-821A-7AC25A32D61F}"/>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8236039" y="5395914"/>
            <a:ext cx="3329643" cy="790573"/>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grpSp>
        <p:nvGrpSpPr>
          <p:cNvPr id="33" name="Group 32">
            <a:extLst>
              <a:ext uri="{FF2B5EF4-FFF2-40B4-BE49-F238E27FC236}">
                <a16:creationId xmlns:a16="http://schemas.microsoft.com/office/drawing/2014/main" id="{FE811445-AF9D-4CCC-9564-C75DA708EFC5}"/>
              </a:ext>
            </a:extLst>
          </p:cNvPr>
          <p:cNvGrpSpPr/>
          <p:nvPr/>
        </p:nvGrpSpPr>
        <p:grpSpPr>
          <a:xfrm>
            <a:off x="5644937" y="1585073"/>
            <a:ext cx="5920745" cy="3300814"/>
            <a:chOff x="5644937" y="1585073"/>
            <a:chExt cx="5920745" cy="3300814"/>
          </a:xfrm>
        </p:grpSpPr>
        <p:pic>
          <p:nvPicPr>
            <p:cNvPr id="31" name="Picture 30">
              <a:extLst>
                <a:ext uri="{FF2B5EF4-FFF2-40B4-BE49-F238E27FC236}">
                  <a16:creationId xmlns:a16="http://schemas.microsoft.com/office/drawing/2014/main" id="{8AFAFD47-F5BE-4F68-AECC-72AB5892FB65}"/>
                </a:ext>
              </a:extLst>
            </p:cNvPr>
            <p:cNvPicPr>
              <a:picLocks noChangeAspect="1"/>
            </p:cNvPicPr>
            <p:nvPr/>
          </p:nvPicPr>
          <p:blipFill>
            <a:blip r:embed="rId8"/>
            <a:stretch>
              <a:fillRect/>
            </a:stretch>
          </p:blipFill>
          <p:spPr>
            <a:xfrm>
              <a:off x="5644937" y="1585073"/>
              <a:ext cx="5920745" cy="3300814"/>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32" name="Content Placeholder 4">
              <a:extLst>
                <a:ext uri="{FF2B5EF4-FFF2-40B4-BE49-F238E27FC236}">
                  <a16:creationId xmlns:a16="http://schemas.microsoft.com/office/drawing/2014/main" id="{71C45902-ACE8-4786-A9B6-3BC369688455}"/>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7990161" y="1610131"/>
              <a:ext cx="214128" cy="149964"/>
            </a:xfrm>
            <a:prstGeom prst="rect">
              <a:avLst/>
            </a:prstGeom>
          </p:spPr>
        </p:pic>
      </p:grpSp>
    </p:spTree>
    <p:extLst>
      <p:ext uri="{BB962C8B-B14F-4D97-AF65-F5344CB8AC3E}">
        <p14:creationId xmlns:p14="http://schemas.microsoft.com/office/powerpoint/2010/main" val="2757897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D02F9-3650-411B-9E22-0491B83D8CF0}"/>
              </a:ext>
            </a:extLst>
          </p:cNvPr>
          <p:cNvSpPr>
            <a:spLocks noGrp="1"/>
          </p:cNvSpPr>
          <p:nvPr>
            <p:ph type="title"/>
          </p:nvPr>
        </p:nvSpPr>
        <p:spPr>
          <a:xfrm>
            <a:off x="1484312" y="685800"/>
            <a:ext cx="5747778" cy="1752599"/>
          </a:xfrm>
        </p:spPr>
        <p:txBody>
          <a:bodyPr>
            <a:normAutofit/>
          </a:bodyPr>
          <a:lstStyle/>
          <a:p>
            <a:r>
              <a:rPr lang="en-US"/>
              <a:t>To Do:</a:t>
            </a:r>
          </a:p>
        </p:txBody>
      </p:sp>
      <p:sp>
        <p:nvSpPr>
          <p:cNvPr id="3" name="Content Placeholder 2">
            <a:extLst>
              <a:ext uri="{FF2B5EF4-FFF2-40B4-BE49-F238E27FC236}">
                <a16:creationId xmlns:a16="http://schemas.microsoft.com/office/drawing/2014/main" id="{A746E357-B905-4207-BFDF-4B93E46F7155}"/>
              </a:ext>
            </a:extLst>
          </p:cNvPr>
          <p:cNvSpPr>
            <a:spLocks noGrp="1"/>
          </p:cNvSpPr>
          <p:nvPr>
            <p:ph idx="1"/>
          </p:nvPr>
        </p:nvSpPr>
        <p:spPr>
          <a:xfrm>
            <a:off x="1484311" y="2666999"/>
            <a:ext cx="5747778" cy="3124201"/>
          </a:xfrm>
        </p:spPr>
        <p:txBody>
          <a:bodyPr>
            <a:normAutofit/>
          </a:bodyPr>
          <a:lstStyle/>
          <a:p>
            <a:r>
              <a:rPr lang="en-US" dirty="0"/>
              <a:t>Ensure Network Functionality</a:t>
            </a:r>
          </a:p>
          <a:p>
            <a:r>
              <a:rPr lang="en-US" dirty="0"/>
              <a:t>Test Network Speeds</a:t>
            </a:r>
          </a:p>
          <a:p>
            <a:r>
              <a:rPr lang="en-US" dirty="0"/>
              <a:t>Test Network Coverage</a:t>
            </a:r>
          </a:p>
          <a:p>
            <a:r>
              <a:rPr lang="en-US" dirty="0"/>
              <a:t>Pen Testing</a:t>
            </a:r>
          </a:p>
          <a:p>
            <a:r>
              <a:rPr lang="en-US" dirty="0"/>
              <a:t>Stress Testing</a:t>
            </a:r>
          </a:p>
        </p:txBody>
      </p:sp>
      <p:pic>
        <p:nvPicPr>
          <p:cNvPr id="11" name="Picture 10">
            <a:extLst>
              <a:ext uri="{FF2B5EF4-FFF2-40B4-BE49-F238E27FC236}">
                <a16:creationId xmlns:a16="http://schemas.microsoft.com/office/drawing/2014/main" id="{B972C5E4-C192-4D95-B43F-F57914069BC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277961" y="645285"/>
            <a:ext cx="2500042" cy="2520043"/>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8" name="Picture 7">
            <a:extLst>
              <a:ext uri="{FF2B5EF4-FFF2-40B4-BE49-F238E27FC236}">
                <a16:creationId xmlns:a16="http://schemas.microsoft.com/office/drawing/2014/main" id="{4F96E842-5462-46D3-B5B3-7CD1E8EAD90E}"/>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7552943" y="3701423"/>
            <a:ext cx="3950079" cy="1901569"/>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2633174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B136A7F-8703-4FA7-80B1-874F5E758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6">
            <a:extLst>
              <a:ext uri="{FF2B5EF4-FFF2-40B4-BE49-F238E27FC236}">
                <a16:creationId xmlns:a16="http://schemas.microsoft.com/office/drawing/2014/main" id="{716B2278-BFC9-43BE-9620-278464A4A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82913"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tx2">
              <a:lumMod val="50000"/>
            </a:schemeClr>
          </a:solidFill>
          <a:ln>
            <a:noFill/>
          </a:ln>
        </p:spPr>
        <p:txBody>
          <a:bodyPr/>
          <a:lstStyle/>
          <a:p>
            <a:endParaRPr lang="en-US" dirty="0"/>
          </a:p>
        </p:txBody>
      </p:sp>
      <p:sp>
        <p:nvSpPr>
          <p:cNvPr id="32" name="Freeform 7">
            <a:extLst>
              <a:ext uri="{FF2B5EF4-FFF2-40B4-BE49-F238E27FC236}">
                <a16:creationId xmlns:a16="http://schemas.microsoft.com/office/drawing/2014/main" id="{E4CD00E4-F77A-49A5-A54B-A542D0DE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076525"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accent1"/>
          </a:solidFill>
          <a:ln>
            <a:noFill/>
          </a:ln>
        </p:spPr>
      </p:sp>
      <p:sp>
        <p:nvSpPr>
          <p:cNvPr id="34" name="Freeform 10">
            <a:extLst>
              <a:ext uri="{FF2B5EF4-FFF2-40B4-BE49-F238E27FC236}">
                <a16:creationId xmlns:a16="http://schemas.microsoft.com/office/drawing/2014/main" id="{17158038-9069-44CB-8794-762B5429B9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82913"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tx2">
              <a:lumMod val="25000"/>
              <a:alpha val="80000"/>
            </a:schemeClr>
          </a:solidFill>
          <a:ln>
            <a:noFill/>
          </a:ln>
        </p:spPr>
      </p:sp>
      <p:sp>
        <p:nvSpPr>
          <p:cNvPr id="36" name="Freeform: Shape 35">
            <a:extLst>
              <a:ext uri="{FF2B5EF4-FFF2-40B4-BE49-F238E27FC236}">
                <a16:creationId xmlns:a16="http://schemas.microsoft.com/office/drawing/2014/main" id="{045056AB-07D8-43D9-9343-AB85199AE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076525" y="5238750"/>
            <a:ext cx="1695450" cy="1619250"/>
          </a:xfrm>
          <a:custGeom>
            <a:avLst/>
            <a:gdLst>
              <a:gd name="connsiteX0" fmla="*/ 0 w 1695450"/>
              <a:gd name="connsiteY0" fmla="*/ 0 h 1619250"/>
              <a:gd name="connsiteX1" fmla="*/ 10414 w 1695450"/>
              <a:gd name="connsiteY1" fmla="*/ 1623 h 1619250"/>
              <a:gd name="connsiteX2" fmla="*/ 9236 w 1695450"/>
              <a:gd name="connsiteY2" fmla="*/ 0 h 1619250"/>
              <a:gd name="connsiteX3" fmla="*/ 10475 w 1695450"/>
              <a:gd name="connsiteY3" fmla="*/ 1633 h 1619250"/>
              <a:gd name="connsiteX4" fmla="*/ 244475 w 1695450"/>
              <a:gd name="connsiteY4" fmla="*/ 38100 h 1619250"/>
              <a:gd name="connsiteX5" fmla="*/ 249238 w 1695450"/>
              <a:gd name="connsiteY5" fmla="*/ 38100 h 1619250"/>
              <a:gd name="connsiteX6" fmla="*/ 249238 w 1695450"/>
              <a:gd name="connsiteY6" fmla="*/ 42863 h 1619250"/>
              <a:gd name="connsiteX7" fmla="*/ 244475 w 1695450"/>
              <a:gd name="connsiteY7" fmla="*/ 42863 h 1619250"/>
              <a:gd name="connsiteX8" fmla="*/ 292100 w 1695450"/>
              <a:gd name="connsiteY8" fmla="*/ 95250 h 1619250"/>
              <a:gd name="connsiteX9" fmla="*/ 1695450 w 1695450"/>
              <a:gd name="connsiteY9" fmla="*/ 1619250 h 1619250"/>
              <a:gd name="connsiteX10" fmla="*/ 1237961 w 1695450"/>
              <a:gd name="connsiteY10" fmla="*/ 1619250 h 1619250"/>
              <a:gd name="connsiteX11" fmla="*/ 1228725 w 1695450"/>
              <a:gd name="connsiteY11" fmla="*/ 1619250 h 1619250"/>
              <a:gd name="connsiteX12" fmla="*/ 1183986 w 1695450"/>
              <a:gd name="connsiteY12" fmla="*/ 1619250 h 1619250"/>
              <a:gd name="connsiteX13" fmla="*/ 210255 w 1695450"/>
              <a:gd name="connsiteY13" fmla="*/ 277080 h 161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95450" h="1619250">
                <a:moveTo>
                  <a:pt x="0" y="0"/>
                </a:moveTo>
                <a:lnTo>
                  <a:pt x="10414" y="1623"/>
                </a:lnTo>
                <a:lnTo>
                  <a:pt x="9236" y="0"/>
                </a:lnTo>
                <a:lnTo>
                  <a:pt x="10475" y="1633"/>
                </a:lnTo>
                <a:lnTo>
                  <a:pt x="244475" y="38100"/>
                </a:lnTo>
                <a:lnTo>
                  <a:pt x="249238" y="38100"/>
                </a:lnTo>
                <a:lnTo>
                  <a:pt x="249238" y="42863"/>
                </a:lnTo>
                <a:lnTo>
                  <a:pt x="244475" y="42863"/>
                </a:lnTo>
                <a:lnTo>
                  <a:pt x="292100" y="95250"/>
                </a:lnTo>
                <a:lnTo>
                  <a:pt x="1695450" y="1619250"/>
                </a:lnTo>
                <a:lnTo>
                  <a:pt x="1237961" y="1619250"/>
                </a:lnTo>
                <a:lnTo>
                  <a:pt x="1228725" y="1619250"/>
                </a:lnTo>
                <a:lnTo>
                  <a:pt x="1183986" y="1619250"/>
                </a:lnTo>
                <a:lnTo>
                  <a:pt x="210255" y="277080"/>
                </a:lnTo>
                <a:close/>
              </a:path>
            </a:pathLst>
          </a:custGeom>
          <a:solidFill>
            <a:schemeClr val="accent1">
              <a:lumMod val="75000"/>
              <a:alpha val="80000"/>
            </a:schemeClr>
          </a:solidFill>
          <a:ln>
            <a:noFill/>
          </a:ln>
        </p:spPr>
      </p:sp>
      <p:sp>
        <p:nvSpPr>
          <p:cNvPr id="2" name="Title 1">
            <a:extLst>
              <a:ext uri="{FF2B5EF4-FFF2-40B4-BE49-F238E27FC236}">
                <a16:creationId xmlns:a16="http://schemas.microsoft.com/office/drawing/2014/main" id="{F4FF9A55-DA71-499F-BA8A-2C8BCD97C99B}"/>
              </a:ext>
            </a:extLst>
          </p:cNvPr>
          <p:cNvSpPr>
            <a:spLocks noGrp="1"/>
          </p:cNvSpPr>
          <p:nvPr>
            <p:ph type="title"/>
          </p:nvPr>
        </p:nvSpPr>
        <p:spPr>
          <a:xfrm>
            <a:off x="8341910" y="1023257"/>
            <a:ext cx="3235083" cy="4767943"/>
          </a:xfrm>
          <a:effectLst/>
        </p:spPr>
        <p:txBody>
          <a:bodyPr anchor="ctr">
            <a:normAutofit/>
          </a:bodyPr>
          <a:lstStyle/>
          <a:p>
            <a:pPr algn="l"/>
            <a:r>
              <a:rPr lang="en-US"/>
              <a:t>References</a:t>
            </a:r>
          </a:p>
        </p:txBody>
      </p:sp>
      <p:sp>
        <p:nvSpPr>
          <p:cNvPr id="38" name="Freeform: Shape 37">
            <a:extLst>
              <a:ext uri="{FF2B5EF4-FFF2-40B4-BE49-F238E27FC236}">
                <a16:creationId xmlns:a16="http://schemas.microsoft.com/office/drawing/2014/main" id="{E83D8662-D21C-4B0A-A8A5-EA1E5DEBC5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43384" cy="6858001"/>
          </a:xfrm>
          <a:custGeom>
            <a:avLst/>
            <a:gdLst>
              <a:gd name="connsiteX0" fmla="*/ 0 w 8143384"/>
              <a:gd name="connsiteY0" fmla="*/ 0 h 6858001"/>
              <a:gd name="connsiteX1" fmla="*/ 3861881 w 8143384"/>
              <a:gd name="connsiteY1" fmla="*/ 0 h 6858001"/>
              <a:gd name="connsiteX2" fmla="*/ 3861881 w 8143384"/>
              <a:gd name="connsiteY2" fmla="*/ 1 h 6858001"/>
              <a:gd name="connsiteX3" fmla="*/ 6963565 w 8143384"/>
              <a:gd name="connsiteY3" fmla="*/ 1 h 6858001"/>
              <a:gd name="connsiteX4" fmla="*/ 6963565 w 8143384"/>
              <a:gd name="connsiteY4" fmla="*/ 0 h 6858001"/>
              <a:gd name="connsiteX5" fmla="*/ 7841583 w 8143384"/>
              <a:gd name="connsiteY5" fmla="*/ 0 h 6858001"/>
              <a:gd name="connsiteX6" fmla="*/ 6994625 w 8143384"/>
              <a:gd name="connsiteY6" fmla="*/ 5258645 h 6858001"/>
              <a:gd name="connsiteX7" fmla="*/ 6994625 w 8143384"/>
              <a:gd name="connsiteY7" fmla="*/ 5263939 h 6858001"/>
              <a:gd name="connsiteX8" fmla="*/ 8143384 w 8143384"/>
              <a:gd name="connsiteY8" fmla="*/ 6858001 h 6858001"/>
              <a:gd name="connsiteX9" fmla="*/ 6994625 w 8143384"/>
              <a:gd name="connsiteY9" fmla="*/ 6858001 h 6858001"/>
              <a:gd name="connsiteX10" fmla="*/ 6643195 w 8143384"/>
              <a:gd name="connsiteY10" fmla="*/ 6858001 h 6858001"/>
              <a:gd name="connsiteX11" fmla="*/ 3861881 w 8143384"/>
              <a:gd name="connsiteY11" fmla="*/ 6858001 h 6858001"/>
              <a:gd name="connsiteX12" fmla="*/ 3739675 w 8143384"/>
              <a:gd name="connsiteY12" fmla="*/ 6858001 h 6858001"/>
              <a:gd name="connsiteX13" fmla="*/ 0 w 8143384"/>
              <a:gd name="connsiteY13"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43384" h="6858001">
                <a:moveTo>
                  <a:pt x="0" y="0"/>
                </a:moveTo>
                <a:lnTo>
                  <a:pt x="3861881" y="0"/>
                </a:lnTo>
                <a:lnTo>
                  <a:pt x="3861881" y="1"/>
                </a:lnTo>
                <a:lnTo>
                  <a:pt x="6963565" y="1"/>
                </a:lnTo>
                <a:lnTo>
                  <a:pt x="6963565" y="0"/>
                </a:lnTo>
                <a:lnTo>
                  <a:pt x="7841583" y="0"/>
                </a:lnTo>
                <a:lnTo>
                  <a:pt x="6994625" y="5258645"/>
                </a:lnTo>
                <a:lnTo>
                  <a:pt x="6994625" y="5263939"/>
                </a:lnTo>
                <a:lnTo>
                  <a:pt x="8143384" y="6858001"/>
                </a:lnTo>
                <a:lnTo>
                  <a:pt x="6994625" y="6858001"/>
                </a:lnTo>
                <a:lnTo>
                  <a:pt x="6643195" y="6858001"/>
                </a:lnTo>
                <a:lnTo>
                  <a:pt x="3861881" y="6858001"/>
                </a:lnTo>
                <a:lnTo>
                  <a:pt x="3739675" y="6858001"/>
                </a:lnTo>
                <a:lnTo>
                  <a:pt x="0" y="6858001"/>
                </a:lnTo>
                <a:close/>
              </a:path>
            </a:pathLst>
          </a:custGeom>
          <a:solidFill>
            <a:schemeClr val="bg1">
              <a:lumMod val="75000"/>
              <a:lumOff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ontent Placeholder 2">
            <a:extLst>
              <a:ext uri="{FF2B5EF4-FFF2-40B4-BE49-F238E27FC236}">
                <a16:creationId xmlns:a16="http://schemas.microsoft.com/office/drawing/2014/main" id="{FF82ACF3-DA2E-4152-8BB6-B62A967FEB38}"/>
              </a:ext>
            </a:extLst>
          </p:cNvPr>
          <p:cNvSpPr>
            <a:spLocks noGrp="1"/>
          </p:cNvSpPr>
          <p:nvPr>
            <p:ph idx="1"/>
          </p:nvPr>
        </p:nvSpPr>
        <p:spPr>
          <a:xfrm>
            <a:off x="693035" y="1023257"/>
            <a:ext cx="5968515" cy="4767944"/>
          </a:xfrm>
        </p:spPr>
        <p:txBody>
          <a:bodyPr anchor="ctr">
            <a:normAutofit/>
          </a:bodyPr>
          <a:lstStyle/>
          <a:p>
            <a:pPr>
              <a:lnSpc>
                <a:spcPct val="90000"/>
              </a:lnSpc>
            </a:pPr>
            <a:r>
              <a:rPr lang="en-US" sz="1300" dirty="0"/>
              <a:t>Some photos shown were from Office Online Pictures by unknown authors and licensed under CC BY-NC-ND, CC BY-SA, or CC BY-SA-NC.</a:t>
            </a:r>
          </a:p>
          <a:p>
            <a:pPr>
              <a:lnSpc>
                <a:spcPct val="90000"/>
              </a:lnSpc>
            </a:pPr>
            <a:r>
              <a:rPr lang="en-US" sz="1300" dirty="0"/>
              <a:t>ARRIS. (n.d.). SB6141 DOCSIS 3.0 Cable Modem. Retrieved from https://www.arris.com/surfboard/products/cable-modems/sb6141/</a:t>
            </a:r>
          </a:p>
          <a:p>
            <a:pPr>
              <a:lnSpc>
                <a:spcPct val="90000"/>
              </a:lnSpc>
            </a:pPr>
            <a:r>
              <a:rPr lang="en-US" sz="1300" dirty="0"/>
              <a:t>Dell. (2018). Business Laptops, Desktops, Servers &amp; Electronics. Retrieved from https://www.dell.com/en-us/work/shop</a:t>
            </a:r>
          </a:p>
          <a:p>
            <a:pPr>
              <a:lnSpc>
                <a:spcPct val="90000"/>
              </a:lnSpc>
            </a:pPr>
            <a:r>
              <a:rPr lang="en-US" sz="1300" dirty="0"/>
              <a:t>NETGEAR. (n.d.). Nighthawk Smart WiFi Router. Retrieved from https://www.netgear.com/home/products/networking/wifi-routers/R7000.aspx</a:t>
            </a:r>
          </a:p>
          <a:p>
            <a:pPr>
              <a:lnSpc>
                <a:spcPct val="90000"/>
              </a:lnSpc>
            </a:pPr>
            <a:endParaRPr lang="en-US" sz="1300" dirty="0"/>
          </a:p>
          <a:p>
            <a:pPr>
              <a:lnSpc>
                <a:spcPct val="90000"/>
              </a:lnSpc>
            </a:pPr>
            <a:endParaRPr lang="en-US" sz="1300" dirty="0"/>
          </a:p>
        </p:txBody>
      </p:sp>
    </p:spTree>
    <p:extLst>
      <p:ext uri="{BB962C8B-B14F-4D97-AF65-F5344CB8AC3E}">
        <p14:creationId xmlns:p14="http://schemas.microsoft.com/office/powerpoint/2010/main" val="645059315"/>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1962</Words>
  <Application>Microsoft Office PowerPoint</Application>
  <PresentationFormat>Widescreen</PresentationFormat>
  <Paragraphs>73</Paragraphs>
  <Slides>8</Slides>
  <Notes>7</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MingLiU-ExtB</vt:lpstr>
      <vt:lpstr>Arial</vt:lpstr>
      <vt:lpstr>Calibri</vt:lpstr>
      <vt:lpstr>Corbel</vt:lpstr>
      <vt:lpstr>Parallax</vt:lpstr>
      <vt:lpstr>Future Tech Network</vt:lpstr>
      <vt:lpstr>Computers</vt:lpstr>
      <vt:lpstr>Software Vendors</vt:lpstr>
      <vt:lpstr>Network Hardware</vt:lpstr>
      <vt:lpstr>Security Measures</vt:lpstr>
      <vt:lpstr>Testing</vt:lpstr>
      <vt:lpstr>To Do:</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Tech Network</dc:title>
  <dc:creator>felicia ainslie</dc:creator>
  <cp:lastModifiedBy>Felicia Ainslie</cp:lastModifiedBy>
  <cp:revision>15</cp:revision>
  <dcterms:created xsi:type="dcterms:W3CDTF">2019-01-02T03:08:40Z</dcterms:created>
  <dcterms:modified xsi:type="dcterms:W3CDTF">2021-08-01T19:40:29Z</dcterms:modified>
</cp:coreProperties>
</file>